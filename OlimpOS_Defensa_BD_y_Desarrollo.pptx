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80" r:id="rId33"/>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Lst>
  <p:sldSz cx="18288000" cy="10287000"/>
  <p:notesSz cx="6858000" cy="9144000"/>
  <p:embeddedFontLst>
    <p:embeddedFont>
      <p:font typeface="Calistoga" charset="1" panose="00000500000000000000"/>
      <p:regular r:id="rId30"/>
    </p:embeddedFont>
    <p:embeddedFont>
      <p:font typeface="DM Sans" charset="1" panose="00000000000000000000"/>
      <p:regular r:id="rId31"/>
    </p:embeddedFont>
    <p:embeddedFont>
      <p:font typeface="DM Sans Bold" charset="1" panose="00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0" Type="http://schemas.openxmlformats.org/officeDocument/2006/relationships/font" Target="fonts/font30.fntdata"/><Relationship Id="rId31" Type="http://schemas.openxmlformats.org/officeDocument/2006/relationships/font" Target="fonts/font31.fntdata"/><Relationship Id="rId32" Type="http://schemas.openxmlformats.org/officeDocument/2006/relationships/font" Target="fonts/font32.fntdata"/><Relationship Id="rId33" Type="http://schemas.openxmlformats.org/officeDocument/2006/relationships/slide" Target="slides/slide25.xml"/><Relationship Id="rId34" Type="http://schemas.openxmlformats.org/officeDocument/2006/relationships/notesMaster" Target="notesMasters/notesMaster1.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Tablas</c:v>
                </c:pt>
              </c:strCache>
            </c:strRef>
          </c:tx>
          <c:spPr>
            <a:solidFill>
              <a:srgbClr val="215DF2"/>
            </a:solidFill>
          </c:spPr>
          <c:dPt>
            <c:idx val="12"/>
            <c:spPr>
              <a:solidFill>
                <a:srgbClr val="F36C4A"/>
              </a:solidFill>
            </c:spPr>
          </c:dPt>
          <c:cat>
            <c:strRef>
              <c:f>Sheet1!$A$2:$A$14</c:f>
              <c:strCache>
                <c:ptCount val="13"/>
                <c:pt idx="0">
                  <c:v>Otras</c:v>
                </c:pt>
                <c:pt idx="1">
                  <c:v>Salud y progreso</c:v>
                </c:pt>
                <c:pt idx="2">
                  <c:v>Tienda</c:v>
                </c:pt>
                <c:pt idx="3">
                  <c:v>Comunicación y web</c:v>
                </c:pt>
                <c:pt idx="4">
                  <c:v>Argos (IA)</c:v>
                </c:pt>
                <c:pt idx="5">
                  <c:v>Personas y roles</c:v>
                </c:pt>
                <c:pt idx="6">
                  <c:v>Membresías y pagos</c:v>
                </c:pt>
                <c:pt idx="7">
                  <c:v>Lockers, accesos y aforo</c:v>
                </c:pt>
                <c:pt idx="8">
                  <c:v>Seguridad y accesos</c:v>
                </c:pt>
                <c:pt idx="9">
                  <c:v>Arena (rangos y marcas)</c:v>
                </c:pt>
                <c:pt idx="10">
                  <c:v>Clases e instalaciones</c:v>
                </c:pt>
                <c:pt idx="11">
                  <c:v>Entrenamiento</c:v>
                </c:pt>
                <c:pt idx="12">
                  <c:v>Nutrición</c:v>
                </c:pt>
              </c:strCache>
            </c:strRef>
          </c:cat>
          <c:val>
            <c:numRef>
              <c:f>Sheet1!$B$2:$B$14</c:f>
              <c:numCache>
                <c:formatCode>General</c:formatCode>
                <c:ptCount val="13"/>
                <c:pt idx="0">
                  <c:v>4</c:v>
                </c:pt>
                <c:pt idx="1">
                  <c:v>4</c:v>
                </c:pt>
                <c:pt idx="2">
                  <c:v>4</c:v>
                </c:pt>
                <c:pt idx="3">
                  <c:v>5</c:v>
                </c:pt>
                <c:pt idx="4">
                  <c:v>5</c:v>
                </c:pt>
                <c:pt idx="5">
                  <c:v>7</c:v>
                </c:pt>
                <c:pt idx="6">
                  <c:v>8</c:v>
                </c:pt>
                <c:pt idx="7">
                  <c:v>10</c:v>
                </c:pt>
                <c:pt idx="8">
                  <c:v>10</c:v>
                </c:pt>
                <c:pt idx="9">
                  <c:v>10</c:v>
                </c:pt>
                <c:pt idx="10">
                  <c:v>11</c:v>
                </c:pt>
                <c:pt idx="11">
                  <c:v>13</c:v>
                </c:pt>
                <c:pt idx="12">
                  <c:v>23</c:v>
                </c:pt>
              </c:numCache>
            </c:numRef>
          </c:val>
        </c:ser>
        <c:dLbls>
          <c:txPr>
            <a:bodyPr/>
            <a:lstStyle/>
            <a:p>
              <a:pPr>
                <a:defRPr sz="1600">
                  <a:solidFill>
                    <a:srgbClr val="1A1A1A"/>
                  </a:solidFill>
                  <a:latin typeface="DM Sans Bold"/>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600">
                <a:solidFill>
                  <a:srgbClr val="1A1A1A"/>
                </a:solidFill>
                <a:latin typeface="DM Sans"/>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En mi parte voy a explicar cómo está hecho OlimpOS por dentro: dónde y cómo se guardan los datos, y cómo programamos cada pieza (el sistema de los empleados, la API, la app de los socios y las páginas web). La idea es que se entienda no solo qué hace el sistema, sino por qué lo hicimos de esa manera.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muestro el mapa general, después me meto en la base de datos: cómo está organizada, qué reglas hace cumplir y cómo protege los datos. Después paso al desarrollo de cada aplicación y cierro con dos funciones que muestran todo junto (el ingreso con QR y la tienda) y con cómo lo probamos.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mapa. El sistema de los empleados corre en la PC de la recepción y se conecta directo a la base, porque es un programa de confianza que está en el club. La app y las páginas web NO tocan la base: le piden todo a la API, que corre en Cloudflare Workers. Hay tres Workers: la API del club, el de pagos (Mercado Pago) y el de Argos, el asistente con IA. Todos terminan en la misma base PostgreSQL en Neon, así que un cambio hecho en recepción se ve al instante en la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Empiezo por la base de datos, que es el corazón: todo lo que hacen las aplicaciones termina leyendo o escribiendo acá.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base es PostgreSQL, alojada en Neon. Al principio usábamos Firestore, que guarda documentos sin relaciones entre sí; pasamos a una base relacional porque el gimnasio tiene muchos datos que dependen unos de otros (un pago es de un socio, un socio tiene una membresía...). Hoy son 114 tablas con 136 claves foráneas y 63 reglas CHECK. Neon es serverless: si nadie la usa un rato se apaga, y por eso el sistema reintenta la consulta una vez si la conexión se cortó.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tablas están agrupadas en 13 módulos, uno por cada parte del negocio. El más grande es Nutrición, con 23 tablas. Algo que nos ayudó mucho: el diccionario de datos y el diagrama entidad-relación no se escriben a mano, los genera un script leyendo la base, así nunca quedan desactualizados.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reglas viven en la base, no solo en el código. Eso significa que aunque una aplicación tenga un error, o alguien intente meter datos a mano, la base los rechaza. Ejemplos: un DNI tiene que tener 7 u 8 dígitos; un pago tiene que pertenecer a un socio que exista; dos productos no pueden tener el mismo código SKU. Y los índices hacen que buscar un socio por email o DNI sea instantáneo.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transacción agrupa varios pasos: o se guardan todos o ninguno. El ejemplo es la tienda: al hacer un pedido, primero se bloquea la fila del producto con SELECT ... FOR UPDATE, se descuenta el stock y se crea el pedido. Si dos socios piden la última unidad al mismo tiempo, el segundo espera a que termine el primero y ve que ya no queda. Lo mismo con los pagos: el pago y la activación de la membresía se guardan juntos, y si Mercado Pago manda el mismo aviso dos veces no se duplica.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medidas de seguridad. Uno: las contraseñas nunca se guardan como texto, se guarda un hash scrypt, que es lento a propósito para que adivinarlas cueste muchísimo. Dos: ninguna clave está subida a GitHub. Tres: los secretos de Mercado Pago y de la IA están en los Workers, porque cualquier cosa que esté dentro de un APK se puede extraer. Cuatro: cada pedido de la app trae un token de Firebase, y la API verifica su firma antes de hacer nada.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paso al desarrollo: cómo está programada cada aplicación y qué decisiones tomamos.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de los empleados está hecho en Python con Flet, que permite hacer interfaces de escritorio. Cada rol tiene su menú: el dueño ve todo, la recepción y los entrenadores solo lo suyo, y si alguien intenta abrir una sección que no le corresponde, el sistema lo bloquea. Separamos las pantallas (22 vistas) de los archivos que hablan con la base (21 módulos repo), así cada cosa se puede cambiar sin romper la otra.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API está escrita en TypeScript y corre en Cloudflare Workers: no hay un servidor propio que mantener. Son tres Workers: la API del club, con todas las rutas que usa la app; el de pagos, que crea el cobro en Mercado Pago y solo activa la membresía cuando Mercado Pago confirma que se pagó; y Argos, que llama a la IA y controla cuántos mensajes puede mandar cada socio por día. La regla de oro es no confiar nunca en lo que manda la app.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app está hecha en Kotlin con Jetpack Compose, que es la forma moderna de hacer interfaces en Android. Tiene 39 pantallas. El socio inicia sesión con Firebase Auth, que le da un token; con ese token la app le pide todo a la API. Usamos una versión optimizada del APK que pesa unos 4,6 MB.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función junta todo. En la recepción, el sistema muestra un QR que cambia cada 30 segundos. Ese código se calcula con HMAC-SHA256 a partir de una clave secreta, así que no se puede inventar. El socio lo escanea con la app, la app lo manda a la API y la API recalcula el código: si coincide (con un margen de 2 minutos), registra el ingreso, y si el socio escanea dos veces no se duplica. Una foto vieja del QR no sirve.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idea que repetimos en todo el proyecto: cada dato vive en un solo lugar. La tienda: el dueño carga los productos en el sistema y la app los muestra; el socio pide desde la app y paga en recepción. Los precios de las membresías: antes estaban escritos dentro de la app, ahora la app los pide a la API, así que si el dueño cambia un precio se ve enseguida. Y al pagar, el precio siempre sale de la base, nunca del celular.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probar usamos varias cosas. La API tiene un script de pruebas que corre contra una base local, nunca contra la real. Cuando probamos en producción, lo hacemos con un socio temporal que se borra al terminar. Las validaciones están en tres capas: la pantalla avisa, la API controla y la base, con sus reglas CHECK, rechaza lo que se escape. Y la app la probamos en el emulador antes de publicar cada APK.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una base relacional que hace cumplir sus propias reglas, una API que verifica todo lo que recibe y tres aplicaciones que muestran siempre la misma información. Gracias, quedo a disposición para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77.jpg"/><Relationship Id="rId5"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78.jpg"/><Relationship Id="rId5"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79.jpg"/><Relationship Id="rId5"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80.jpg"/><Relationship Id="rId5"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81.jpg"/><Relationship Id="rId5"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82.jpg"/><Relationship Id="rId5"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83.jpg"/><Relationship Id="rId5"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84.jpg"/><Relationship Id="rId5"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9.mp4"/><Relationship Id="rId3" Type="http://schemas.openxmlformats.org/officeDocument/2006/relationships/video" Target="../media/media9.mp4"/><Relationship Id="rId4" Type="http://schemas.openxmlformats.org/officeDocument/2006/relationships/image" Target="../media/image85.jpg"/><Relationship Id="rId5" Type="http://schemas.openxmlformats.org/officeDocument/2006/relationships/notesSlide" Target="../notesSlides/notesSlide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87.jpg"/><Relationship Id="rId5"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1.mp4"/><Relationship Id="rId3" Type="http://schemas.openxmlformats.org/officeDocument/2006/relationships/video" Target="../media/media11.mp4"/><Relationship Id="rId4" Type="http://schemas.openxmlformats.org/officeDocument/2006/relationships/image" Target="../media/image88.jpg"/><Relationship Id="rId5" Type="http://schemas.openxmlformats.org/officeDocument/2006/relationships/notesSlide" Target="../notesSlides/notesSlide17.xml"/></Relationships>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ogo"/>
          <p:cNvSpPr/>
          <p:nvPr/>
        </p:nvSpPr>
        <p:spPr>
          <a:xfrm>
            <a:off x="1024128" y="822960"/>
            <a:ext cx="868680" cy="8686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a:solidFill>
                  <a:srgbClr val="FFFFFF"/>
                </a:solidFill>
                <a:latin typeface="Calistoga"/>
              </a:rPr>
              <a:t>O</a:t>
            </a:r>
          </a:p>
        </p:txBody>
      </p:sp>
      <p:sp>
        <p:nvSpPr>
          <p:cNvPr id="3" name="Marca"/>
          <p:cNvSpPr txBox="1"/>
          <p:nvPr/>
        </p:nvSpPr>
        <p:spPr>
          <a:xfrm>
            <a:off x="2148840" y="987552"/>
            <a:ext cx="5486400" cy="548640"/>
          </a:xfrm>
          <a:prstGeom prst="rect">
            <a:avLst/>
          </a:prstGeom>
          <a:noFill/>
        </p:spPr>
        <p:txBody>
          <a:bodyPr wrap="square" lIns="0" rIns="0" tIns="0" bIns="0" anchor="t">
            <a:spAutoFit/>
          </a:bodyPr>
          <a:lstStyle/>
          <a:p>
            <a:pPr algn="l"/>
            <a:r>
              <a:rPr sz="2600">
                <a:solidFill>
                  <a:srgbClr val="1A1A1A"/>
                </a:solidFill>
                <a:latin typeface="Calistoga"/>
              </a:rPr>
              <a:t>OLIMPOS GYM</a:t>
            </a:r>
          </a:p>
        </p:txBody>
      </p:sp>
      <p:sp>
        <p:nvSpPr>
          <p:cNvPr id="4" name="TextBox 3"/>
          <p:cNvSpPr txBox="1"/>
          <p:nvPr/>
        </p:nvSpPr>
        <p:spPr>
          <a:xfrm>
            <a:off x="1024128" y="2926080"/>
            <a:ext cx="8778240" cy="3291840"/>
          </a:xfrm>
          <a:prstGeom prst="rect">
            <a:avLst/>
          </a:prstGeom>
          <a:noFill/>
        </p:spPr>
        <p:txBody>
          <a:bodyPr wrap="square" lIns="0" rIns="0" tIns="0" bIns="0" anchor="b">
            <a:spAutoFit/>
          </a:bodyPr>
          <a:lstStyle/>
          <a:p>
            <a:pPr algn="l">
              <a:lnSpc>
                <a:spcPct val="95000"/>
              </a:lnSpc>
            </a:pPr>
            <a:r>
              <a:rPr sz="6800">
                <a:solidFill>
                  <a:srgbClr val="215DF2"/>
                </a:solidFill>
                <a:latin typeface="Calistoga"/>
              </a:rPr>
              <a:t>Base de datos y desarrollo de OlimpOS</a:t>
            </a:r>
          </a:p>
        </p:txBody>
      </p:sp>
      <p:sp>
        <p:nvSpPr>
          <p:cNvPr id="5" name="TextBox 4"/>
          <p:cNvSpPr txBox="1"/>
          <p:nvPr/>
        </p:nvSpPr>
        <p:spPr>
          <a:xfrm>
            <a:off x="1024128" y="6446520"/>
            <a:ext cx="8778240" cy="1097280"/>
          </a:xfrm>
          <a:prstGeom prst="rect">
            <a:avLst/>
          </a:prstGeom>
          <a:noFill/>
        </p:spPr>
        <p:txBody>
          <a:bodyPr wrap="square" lIns="0" rIns="0" tIns="0" bIns="0" anchor="t">
            <a:spAutoFit/>
          </a:bodyPr>
          <a:lstStyle/>
          <a:p>
            <a:pPr algn="l"/>
            <a:r>
              <a:rPr sz="2700">
                <a:solidFill>
                  <a:srgbClr val="1A1A1A"/>
                </a:solidFill>
                <a:latin typeface="DM Sans"/>
              </a:rPr>
              <a:t>Cómo está construido por dentro: los datos, el sistema de empleados, la API, la app y la web</a:t>
            </a:r>
          </a:p>
        </p:txBody>
      </p:sp>
      <p:sp>
        <p:nvSpPr>
          <p:cNvPr id="6" name="TextBox 5"/>
          <p:cNvSpPr txBox="1"/>
          <p:nvPr/>
        </p:nvSpPr>
        <p:spPr>
          <a:xfrm>
            <a:off x="1024128" y="8092440"/>
            <a:ext cx="5486400" cy="548640"/>
          </a:xfrm>
          <a:prstGeom prst="rect">
            <a:avLst/>
          </a:prstGeom>
          <a:noFill/>
        </p:spPr>
        <p:txBody>
          <a:bodyPr wrap="square" lIns="0" rIns="0" tIns="0" bIns="0" anchor="t">
            <a:spAutoFit/>
          </a:bodyPr>
          <a:lstStyle/>
          <a:p>
            <a:pPr algn="l"/>
            <a:r>
              <a:rPr sz="2600">
                <a:solidFill>
                  <a:srgbClr val="F36C4A"/>
                </a:solidFill>
                <a:latin typeface="Calistoga"/>
              </a:rPr>
              <a:t>Defensa del proyecto</a:t>
            </a:r>
          </a:p>
        </p:txBody>
      </p:sp>
      <p:sp>
        <p:nvSpPr>
          <p:cNvPr id="7" name="TextBox 6"/>
          <p:cNvSpPr txBox="1"/>
          <p:nvPr/>
        </p:nvSpPr>
        <p:spPr>
          <a:xfrm>
            <a:off x="1024128" y="8686800"/>
            <a:ext cx="7315200" cy="548640"/>
          </a:xfrm>
          <a:prstGeom prst="rect">
            <a:avLst/>
          </a:prstGeom>
          <a:noFill/>
        </p:spPr>
        <p:txBody>
          <a:bodyPr wrap="square" lIns="0" rIns="0" tIns="0" bIns="0" anchor="t">
            <a:spAutoFit/>
          </a:bodyPr>
          <a:lstStyle/>
          <a:p>
            <a:pPr algn="l"/>
            <a:r>
              <a:rPr sz="2100">
                <a:solidFill>
                  <a:srgbClr val="1A1A1A"/>
                </a:solidFill>
                <a:latin typeface="DM Sans"/>
              </a:rPr>
              <a:t>Parte técnica · Base de datos y programación</a:t>
            </a:r>
          </a:p>
        </p:txBody>
      </p:sp>
      <p:pic>
        <p:nvPicPr>
          <p:cNvPr id="8" name="Animación presentar">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0241280" y="2743200"/>
            <a:ext cx="7589520" cy="42691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8"/>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Lo que voy a contar</a:t>
            </a:r>
          </a:p>
        </p:txBody>
      </p:sp>
      <p:pic>
        <p:nvPicPr>
          <p:cNvPr id="3" name="Animación docs">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8640" y="3108960"/>
            <a:ext cx="8229600" cy="4629150"/>
          </a:xfrm>
          <a:prstGeom prst="rect">
            <a:avLst/>
          </a:prstGeom>
        </p:spPr>
      </p:pic>
      <p:sp>
        <p:nvSpPr>
          <p:cNvPr id="4" name="TextBox 3"/>
          <p:cNvSpPr txBox="1"/>
          <p:nvPr/>
        </p:nvSpPr>
        <p:spPr>
          <a:xfrm>
            <a:off x="9509760" y="2971800"/>
            <a:ext cx="7863840" cy="640080"/>
          </a:xfrm>
          <a:prstGeom prst="rect">
            <a:avLst/>
          </a:prstGeom>
          <a:noFill/>
        </p:spPr>
        <p:txBody>
          <a:bodyPr wrap="square" lIns="0" rIns="0" tIns="0" bIns="0" anchor="t">
            <a:spAutoFit/>
          </a:bodyPr>
          <a:lstStyle/>
          <a:p>
            <a:pPr algn="l"/>
            <a:r>
              <a:rPr sz="3000" b="1">
                <a:solidFill>
                  <a:srgbClr val="1A1A1A"/>
                </a:solidFill>
                <a:latin typeface="DM Sans Bold"/>
              </a:rPr>
              <a:t>Mi parte de la defensa</a:t>
            </a:r>
          </a:p>
        </p:txBody>
      </p:sp>
      <p:sp>
        <p:nvSpPr>
          <p:cNvPr id="5" name="Viñeta 1"/>
          <p:cNvSpPr/>
          <p:nvPr/>
        </p:nvSpPr>
        <p:spPr>
          <a:xfrm>
            <a:off x="9509760" y="4233672"/>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95560" y="4114800"/>
            <a:ext cx="7360920" cy="896112"/>
          </a:xfrm>
          <a:prstGeom prst="rect">
            <a:avLst/>
          </a:prstGeom>
          <a:noFill/>
        </p:spPr>
        <p:txBody>
          <a:bodyPr wrap="square" lIns="0" rIns="0" tIns="0" bIns="0" anchor="t">
            <a:spAutoFit/>
          </a:bodyPr>
          <a:lstStyle/>
          <a:p>
            <a:pPr algn="l"/>
            <a:r>
              <a:rPr sz="2700">
                <a:solidFill>
                  <a:srgbClr val="1A1A1A"/>
                </a:solidFill>
                <a:latin typeface="DM Sans"/>
              </a:rPr>
              <a:t>Cómo se conectan todas las piezas</a:t>
            </a:r>
          </a:p>
        </p:txBody>
      </p:sp>
      <p:sp>
        <p:nvSpPr>
          <p:cNvPr id="7" name="Viñeta 2"/>
          <p:cNvSpPr/>
          <p:nvPr/>
        </p:nvSpPr>
        <p:spPr>
          <a:xfrm>
            <a:off x="9509760" y="5129784"/>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95560" y="5010912"/>
            <a:ext cx="7360920" cy="896112"/>
          </a:xfrm>
          <a:prstGeom prst="rect">
            <a:avLst/>
          </a:prstGeom>
          <a:noFill/>
        </p:spPr>
        <p:txBody>
          <a:bodyPr wrap="square" lIns="0" rIns="0" tIns="0" bIns="0" anchor="t">
            <a:spAutoFit/>
          </a:bodyPr>
          <a:lstStyle/>
          <a:p>
            <a:pPr algn="l"/>
            <a:r>
              <a:rPr sz="2700">
                <a:solidFill>
                  <a:srgbClr val="1A1A1A"/>
                </a:solidFill>
                <a:latin typeface="DM Sans"/>
              </a:rPr>
              <a:t>La base de datos en PostgreSQL (Neon)</a:t>
            </a:r>
          </a:p>
        </p:txBody>
      </p:sp>
      <p:sp>
        <p:nvSpPr>
          <p:cNvPr id="9" name="Viñeta 3"/>
          <p:cNvSpPr/>
          <p:nvPr/>
        </p:nvSpPr>
        <p:spPr>
          <a:xfrm>
            <a:off x="9509760" y="6025896"/>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95560" y="5907024"/>
            <a:ext cx="7360920" cy="896112"/>
          </a:xfrm>
          <a:prstGeom prst="rect">
            <a:avLst/>
          </a:prstGeom>
          <a:noFill/>
        </p:spPr>
        <p:txBody>
          <a:bodyPr wrap="square" lIns="0" rIns="0" tIns="0" bIns="0" anchor="t">
            <a:spAutoFit/>
          </a:bodyPr>
          <a:lstStyle/>
          <a:p>
            <a:pPr algn="l"/>
            <a:r>
              <a:rPr sz="2700">
                <a:solidFill>
                  <a:srgbClr val="1A1A1A"/>
                </a:solidFill>
                <a:latin typeface="DM Sans"/>
              </a:rPr>
              <a:t>Reglas, transacciones y seguridad</a:t>
            </a:r>
          </a:p>
        </p:txBody>
      </p:sp>
      <p:sp>
        <p:nvSpPr>
          <p:cNvPr id="11" name="Viñeta 4"/>
          <p:cNvSpPr/>
          <p:nvPr/>
        </p:nvSpPr>
        <p:spPr>
          <a:xfrm>
            <a:off x="9509760" y="6922007"/>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95560" y="6803136"/>
            <a:ext cx="7360920" cy="896112"/>
          </a:xfrm>
          <a:prstGeom prst="rect">
            <a:avLst/>
          </a:prstGeom>
          <a:noFill/>
        </p:spPr>
        <p:txBody>
          <a:bodyPr wrap="square" lIns="0" rIns="0" tIns="0" bIns="0" anchor="t">
            <a:spAutoFit/>
          </a:bodyPr>
          <a:lstStyle/>
          <a:p>
            <a:pPr algn="l"/>
            <a:r>
              <a:rPr sz="2700">
                <a:solidFill>
                  <a:srgbClr val="1A1A1A"/>
                </a:solidFill>
                <a:latin typeface="DM Sans"/>
              </a:rPr>
              <a:t>Sistema de empleados, API y app móvil</a:t>
            </a:r>
          </a:p>
        </p:txBody>
      </p:sp>
      <p:sp>
        <p:nvSpPr>
          <p:cNvPr id="13" name="Viñeta 5"/>
          <p:cNvSpPr/>
          <p:nvPr/>
        </p:nvSpPr>
        <p:spPr>
          <a:xfrm>
            <a:off x="9509760" y="7818120"/>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95560" y="7699248"/>
            <a:ext cx="7360920" cy="896112"/>
          </a:xfrm>
          <a:prstGeom prst="rect">
            <a:avLst/>
          </a:prstGeom>
          <a:noFill/>
        </p:spPr>
        <p:txBody>
          <a:bodyPr wrap="square" lIns="0" rIns="0" tIns="0" bIns="0" anchor="t">
            <a:spAutoFit/>
          </a:bodyPr>
          <a:lstStyle/>
          <a:p>
            <a:pPr algn="l"/>
            <a:r>
              <a:rPr sz="2700">
                <a:solidFill>
                  <a:srgbClr val="1A1A1A"/>
                </a:solidFill>
                <a:latin typeface="DM Sans"/>
              </a:rPr>
              <a:t>Funciones destacadas y cómo lo probamos</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Cómo se conecta todo</a:t>
            </a:r>
          </a:p>
        </p:txBody>
      </p:sp>
      <p:sp>
        <p:nvSpPr>
          <p:cNvPr id="3" name="TextBox 2"/>
          <p:cNvSpPr txBox="1"/>
          <p:nvPr/>
        </p:nvSpPr>
        <p:spPr>
          <a:xfrm>
            <a:off x="1024128" y="1965960"/>
            <a:ext cx="15544800" cy="640080"/>
          </a:xfrm>
          <a:prstGeom prst="rect">
            <a:avLst/>
          </a:prstGeom>
          <a:noFill/>
        </p:spPr>
        <p:txBody>
          <a:bodyPr wrap="square" lIns="0" rIns="0" tIns="0" bIns="0" anchor="t">
            <a:spAutoFit/>
          </a:bodyPr>
          <a:lstStyle/>
          <a:p>
            <a:pPr algn="l"/>
            <a:r>
              <a:rPr sz="2600">
                <a:solidFill>
                  <a:srgbClr val="5B6170"/>
                </a:solidFill>
                <a:latin typeface="DM Sans"/>
              </a:rPr>
              <a:t>Tres aplicaciones, un servidor en la nube y una sola base de datos</a:t>
            </a:r>
          </a:p>
        </p:txBody>
      </p:sp>
      <p:sp>
        <p:nvSpPr>
          <p:cNvPr id="4" name="Cliente 1"/>
          <p:cNvSpPr/>
          <p:nvPr/>
        </p:nvSpPr>
        <p:spPr>
          <a:xfrm>
            <a:off x="1024128" y="3063240"/>
            <a:ext cx="4754880" cy="1691640"/>
          </a:xfrm>
          <a:prstGeom prst="roundRect">
            <a:avLst>
              <a:gd name="adj" fmla="val 8000"/>
            </a:avLst>
          </a:prstGeom>
          <a:solidFill>
            <a:srgbClr val="EA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337560"/>
            <a:ext cx="4206240" cy="548640"/>
          </a:xfrm>
          <a:prstGeom prst="rect">
            <a:avLst/>
          </a:prstGeom>
          <a:noFill/>
        </p:spPr>
        <p:txBody>
          <a:bodyPr wrap="square" lIns="0" rIns="0" tIns="0" bIns="0" anchor="t">
            <a:spAutoFit/>
          </a:bodyPr>
          <a:lstStyle/>
          <a:p>
            <a:pPr algn="l"/>
            <a:r>
              <a:rPr sz="2500" b="1">
                <a:solidFill>
                  <a:srgbClr val="215DF2"/>
                </a:solidFill>
                <a:latin typeface="DM Sans Bold"/>
              </a:rPr>
              <a:t>Sistema de empleados</a:t>
            </a:r>
          </a:p>
        </p:txBody>
      </p:sp>
      <p:sp>
        <p:nvSpPr>
          <p:cNvPr id="6" name="TextBox 5"/>
          <p:cNvSpPr txBox="1"/>
          <p:nvPr/>
        </p:nvSpPr>
        <p:spPr>
          <a:xfrm>
            <a:off x="1325880" y="3931920"/>
            <a:ext cx="4206240" cy="640080"/>
          </a:xfrm>
          <a:prstGeom prst="rect">
            <a:avLst/>
          </a:prstGeom>
          <a:noFill/>
        </p:spPr>
        <p:txBody>
          <a:bodyPr wrap="square" lIns="0" rIns="0" tIns="0" bIns="0" anchor="t">
            <a:spAutoFit/>
          </a:bodyPr>
          <a:lstStyle/>
          <a:p>
            <a:pPr algn="l"/>
            <a:r>
              <a:rPr sz="1900">
                <a:solidFill>
                  <a:srgbClr val="1A1A1A"/>
                </a:solidFill>
                <a:latin typeface="DM Sans"/>
              </a:rPr>
              <a:t>Python 3.12 + Flet · escritorio</a:t>
            </a:r>
          </a:p>
        </p:txBody>
      </p:sp>
      <p:sp>
        <p:nvSpPr>
          <p:cNvPr id="7" name="Cliente 2"/>
          <p:cNvSpPr/>
          <p:nvPr/>
        </p:nvSpPr>
        <p:spPr>
          <a:xfrm>
            <a:off x="1024128" y="5212080"/>
            <a:ext cx="4754880" cy="1691640"/>
          </a:xfrm>
          <a:prstGeom prst="roundRect">
            <a:avLst>
              <a:gd name="adj" fmla="val 8000"/>
            </a:avLst>
          </a:prstGeom>
          <a:solidFill>
            <a:srgbClr val="EA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5486400"/>
            <a:ext cx="4206240" cy="548640"/>
          </a:xfrm>
          <a:prstGeom prst="rect">
            <a:avLst/>
          </a:prstGeom>
          <a:noFill/>
        </p:spPr>
        <p:txBody>
          <a:bodyPr wrap="square" lIns="0" rIns="0" tIns="0" bIns="0" anchor="t">
            <a:spAutoFit/>
          </a:bodyPr>
          <a:lstStyle/>
          <a:p>
            <a:pPr algn="l"/>
            <a:r>
              <a:rPr sz="2500" b="1">
                <a:solidFill>
                  <a:srgbClr val="215DF2"/>
                </a:solidFill>
                <a:latin typeface="DM Sans Bold"/>
              </a:rPr>
              <a:t>App de socios</a:t>
            </a:r>
          </a:p>
        </p:txBody>
      </p:sp>
      <p:sp>
        <p:nvSpPr>
          <p:cNvPr id="9" name="TextBox 8"/>
          <p:cNvSpPr txBox="1"/>
          <p:nvPr/>
        </p:nvSpPr>
        <p:spPr>
          <a:xfrm>
            <a:off x="1325880" y="6080760"/>
            <a:ext cx="4206240" cy="640080"/>
          </a:xfrm>
          <a:prstGeom prst="rect">
            <a:avLst/>
          </a:prstGeom>
          <a:noFill/>
        </p:spPr>
        <p:txBody>
          <a:bodyPr wrap="square" lIns="0" rIns="0" tIns="0" bIns="0" anchor="t">
            <a:spAutoFit/>
          </a:bodyPr>
          <a:lstStyle/>
          <a:p>
            <a:pPr algn="l"/>
            <a:r>
              <a:rPr sz="1900">
                <a:solidFill>
                  <a:srgbClr val="1A1A1A"/>
                </a:solidFill>
                <a:latin typeface="DM Sans"/>
              </a:rPr>
              <a:t>Kotlin + Jetpack Compose · Android</a:t>
            </a:r>
          </a:p>
        </p:txBody>
      </p:sp>
      <p:sp>
        <p:nvSpPr>
          <p:cNvPr id="10" name="Cliente 3"/>
          <p:cNvSpPr/>
          <p:nvPr/>
        </p:nvSpPr>
        <p:spPr>
          <a:xfrm>
            <a:off x="1024128" y="7360920"/>
            <a:ext cx="4754880" cy="1691640"/>
          </a:xfrm>
          <a:prstGeom prst="roundRect">
            <a:avLst>
              <a:gd name="adj" fmla="val 8000"/>
            </a:avLst>
          </a:prstGeom>
          <a:solidFill>
            <a:srgbClr val="EA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7635240"/>
            <a:ext cx="4206240" cy="548640"/>
          </a:xfrm>
          <a:prstGeom prst="rect">
            <a:avLst/>
          </a:prstGeom>
          <a:noFill/>
        </p:spPr>
        <p:txBody>
          <a:bodyPr wrap="square" lIns="0" rIns="0" tIns="0" bIns="0" anchor="t">
            <a:spAutoFit/>
          </a:bodyPr>
          <a:lstStyle/>
          <a:p>
            <a:pPr algn="l"/>
            <a:r>
              <a:rPr sz="2500" b="1">
                <a:solidFill>
                  <a:srgbClr val="215DF2"/>
                </a:solidFill>
                <a:latin typeface="DM Sans Bold"/>
              </a:rPr>
              <a:t>Páginas web</a:t>
            </a:r>
          </a:p>
        </p:txBody>
      </p:sp>
      <p:sp>
        <p:nvSpPr>
          <p:cNvPr id="12" name="TextBox 11"/>
          <p:cNvSpPr txBox="1"/>
          <p:nvPr/>
        </p:nvSpPr>
        <p:spPr>
          <a:xfrm>
            <a:off x="1325880" y="8229600"/>
            <a:ext cx="4206240" cy="640080"/>
          </a:xfrm>
          <a:prstGeom prst="rect">
            <a:avLst/>
          </a:prstGeom>
          <a:noFill/>
        </p:spPr>
        <p:txBody>
          <a:bodyPr wrap="square" lIns="0" rIns="0" tIns="0" bIns="0" anchor="t">
            <a:spAutoFit/>
          </a:bodyPr>
          <a:lstStyle/>
          <a:p>
            <a:pPr algn="l"/>
            <a:r>
              <a:rPr sz="1900">
                <a:solidFill>
                  <a:srgbClr val="1A1A1A"/>
                </a:solidFill>
                <a:latin typeface="DM Sans"/>
              </a:rPr>
              <a:t>HTML, CSS y JavaScript</a:t>
            </a:r>
          </a:p>
        </p:txBody>
      </p:sp>
      <p:sp>
        <p:nvSpPr>
          <p:cNvPr id="13" name="Workers"/>
          <p:cNvSpPr/>
          <p:nvPr/>
        </p:nvSpPr>
        <p:spPr>
          <a:xfrm>
            <a:off x="7315200" y="4343400"/>
            <a:ext cx="4206240" cy="4480560"/>
          </a:xfrm>
          <a:prstGeom prst="roundRect">
            <a:avLst>
              <a:gd name="adj" fmla="val 8000"/>
            </a:avLst>
          </a:prstGeom>
          <a:solidFill>
            <a:srgbClr val="215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35240" y="4617720"/>
            <a:ext cx="3657600" cy="548640"/>
          </a:xfrm>
          <a:prstGeom prst="rect">
            <a:avLst/>
          </a:prstGeom>
          <a:noFill/>
        </p:spPr>
        <p:txBody>
          <a:bodyPr wrap="square" lIns="0" rIns="0" tIns="0" bIns="0" anchor="t">
            <a:spAutoFit/>
          </a:bodyPr>
          <a:lstStyle/>
          <a:p>
            <a:pPr algn="l"/>
            <a:r>
              <a:rPr sz="2500" b="1">
                <a:solidFill>
                  <a:srgbClr val="FFFFFF"/>
                </a:solidFill>
                <a:latin typeface="DM Sans Bold"/>
              </a:rPr>
              <a:t>Cloudflare Workers</a:t>
            </a:r>
          </a:p>
        </p:txBody>
      </p:sp>
      <p:sp>
        <p:nvSpPr>
          <p:cNvPr id="15" name="Worker 1"/>
          <p:cNvSpPr/>
          <p:nvPr/>
        </p:nvSpPr>
        <p:spPr>
          <a:xfrm>
            <a:off x="7635240" y="5394960"/>
            <a:ext cx="3566160" cy="77724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35240" y="5394960"/>
            <a:ext cx="3566160" cy="777240"/>
          </a:xfrm>
          <a:prstGeom prst="rect">
            <a:avLst/>
          </a:prstGeom>
          <a:noFill/>
        </p:spPr>
        <p:txBody>
          <a:bodyPr wrap="square" lIns="0" rIns="0" tIns="0" bIns="0" anchor="ctr">
            <a:spAutoFit/>
          </a:bodyPr>
          <a:lstStyle/>
          <a:p>
            <a:pPr algn="ctr"/>
            <a:r>
              <a:rPr sz="2100" b="1">
                <a:solidFill>
                  <a:srgbClr val="215DF2"/>
                </a:solidFill>
                <a:latin typeface="DM Sans Bold"/>
              </a:rPr>
              <a:t>API del club</a:t>
            </a:r>
          </a:p>
        </p:txBody>
      </p:sp>
      <p:sp>
        <p:nvSpPr>
          <p:cNvPr id="17" name="Worker 2"/>
          <p:cNvSpPr/>
          <p:nvPr/>
        </p:nvSpPr>
        <p:spPr>
          <a:xfrm>
            <a:off x="7635240" y="6419088"/>
            <a:ext cx="3566160" cy="77724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6419088"/>
            <a:ext cx="3566160" cy="777240"/>
          </a:xfrm>
          <a:prstGeom prst="rect">
            <a:avLst/>
          </a:prstGeom>
          <a:noFill/>
        </p:spPr>
        <p:txBody>
          <a:bodyPr wrap="square" lIns="0" rIns="0" tIns="0" bIns="0" anchor="ctr">
            <a:spAutoFit/>
          </a:bodyPr>
          <a:lstStyle/>
          <a:p>
            <a:pPr algn="ctr"/>
            <a:r>
              <a:rPr sz="2100" b="1">
                <a:solidFill>
                  <a:srgbClr val="215DF2"/>
                </a:solidFill>
                <a:latin typeface="DM Sans Bold"/>
              </a:rPr>
              <a:t>Pagos</a:t>
            </a:r>
          </a:p>
        </p:txBody>
      </p:sp>
      <p:sp>
        <p:nvSpPr>
          <p:cNvPr id="19" name="Worker 3"/>
          <p:cNvSpPr/>
          <p:nvPr/>
        </p:nvSpPr>
        <p:spPr>
          <a:xfrm>
            <a:off x="7635240" y="7443216"/>
            <a:ext cx="3566160" cy="77724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7443216"/>
            <a:ext cx="3566160" cy="777240"/>
          </a:xfrm>
          <a:prstGeom prst="rect">
            <a:avLst/>
          </a:prstGeom>
          <a:noFill/>
        </p:spPr>
        <p:txBody>
          <a:bodyPr wrap="square" lIns="0" rIns="0" tIns="0" bIns="0" anchor="ctr">
            <a:spAutoFit/>
          </a:bodyPr>
          <a:lstStyle/>
          <a:p>
            <a:pPr algn="ctr"/>
            <a:r>
              <a:rPr sz="2100" b="1">
                <a:solidFill>
                  <a:srgbClr val="215DF2"/>
                </a:solidFill>
                <a:latin typeface="DM Sans Bold"/>
              </a:rPr>
              <a:t>Argos (IA)</a:t>
            </a:r>
          </a:p>
        </p:txBody>
      </p:sp>
      <p:sp>
        <p:nvSpPr>
          <p:cNvPr id="21" name="Base de datos"/>
          <p:cNvSpPr/>
          <p:nvPr/>
        </p:nvSpPr>
        <p:spPr>
          <a:xfrm>
            <a:off x="13075920" y="3063240"/>
            <a:ext cx="4206240" cy="5989320"/>
          </a:xfrm>
          <a:prstGeom prst="roundRect">
            <a:avLst>
              <a:gd name="adj" fmla="val 8000"/>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350240" y="3429000"/>
            <a:ext cx="3657600" cy="1097280"/>
          </a:xfrm>
          <a:prstGeom prst="rect">
            <a:avLst/>
          </a:prstGeom>
          <a:noFill/>
        </p:spPr>
        <p:txBody>
          <a:bodyPr wrap="square" lIns="0" rIns="0" tIns="0" bIns="0" anchor="t">
            <a:spAutoFit/>
          </a:bodyPr>
          <a:lstStyle/>
          <a:p>
            <a:pPr algn="l"/>
            <a:r>
              <a:rPr sz="3000">
                <a:solidFill>
                  <a:srgbClr val="FFFFFF"/>
                </a:solidFill>
                <a:latin typeface="Calistoga"/>
              </a:rPr>
              <a:t>PostgreSQL en Neon</a:t>
            </a:r>
          </a:p>
        </p:txBody>
      </p:sp>
      <p:sp>
        <p:nvSpPr>
          <p:cNvPr id="23" name="TextBox 22"/>
          <p:cNvSpPr txBox="1"/>
          <p:nvPr/>
        </p:nvSpPr>
        <p:spPr>
          <a:xfrm>
            <a:off x="13350240" y="4937760"/>
            <a:ext cx="3657600" cy="3566160"/>
          </a:xfrm>
          <a:prstGeom prst="rect">
            <a:avLst/>
          </a:prstGeom>
          <a:noFill/>
        </p:spPr>
        <p:txBody>
          <a:bodyPr wrap="square" lIns="0" rIns="0" tIns="0" bIns="0" anchor="t">
            <a:spAutoFit/>
          </a:bodyPr>
          <a:lstStyle/>
          <a:p>
            <a:pPr algn="l">
              <a:spcAft>
                <a:spcPts val="1400"/>
              </a:spcAft>
            </a:pPr>
            <a:r>
              <a:rPr sz="2100">
                <a:solidFill>
                  <a:srgbClr val="FFFFFF"/>
                </a:solidFill>
                <a:latin typeface="DM Sans"/>
              </a:rPr>
              <a:t>114 tablas</a:t>
            </a:r>
          </a:p>
          <a:p>
            <a:pPr algn="l"/>
            <a:r>
              <a:rPr sz="2100">
                <a:solidFill>
                  <a:srgbClr val="FFFFFF"/>
                </a:solidFill>
                <a:latin typeface="DM Sans"/>
              </a:rPr>
              <a:t>Una sola fuente de verdad para las tres aplicaciones</a:t>
            </a:r>
          </a:p>
        </p:txBody>
      </p:sp>
      <p:sp>
        <p:nvSpPr>
          <p:cNvPr id="24" name="TextBox 23"/>
          <p:cNvSpPr txBox="1"/>
          <p:nvPr/>
        </p:nvSpPr>
        <p:spPr>
          <a:xfrm>
            <a:off x="6309360" y="9052560"/>
            <a:ext cx="6217920" cy="822960"/>
          </a:xfrm>
          <a:prstGeom prst="rect">
            <a:avLst/>
          </a:prstGeom>
          <a:noFill/>
        </p:spPr>
        <p:txBody>
          <a:bodyPr wrap="square" lIns="0" rIns="0" tIns="0" bIns="0" anchor="t">
            <a:spAutoFit/>
          </a:bodyPr>
          <a:lstStyle/>
          <a:p>
            <a:pPr algn="ctr"/>
            <a:r>
              <a:rPr sz="1800" b="1">
                <a:solidFill>
                  <a:srgbClr val="5B6170"/>
                </a:solidFill>
                <a:latin typeface="DM Sans Bold"/>
              </a:rPr>
              <a:t>Usan: </a:t>
            </a:r>
            <a:r>
              <a:rPr sz="1800">
                <a:solidFill>
                  <a:srgbClr val="5B6170"/>
                </a:solidFill>
                <a:latin typeface="DM Sans"/>
              </a:rPr>
              <a:t>Firebase Auth · Mercado Pago · Anthropic</a:t>
            </a:r>
          </a:p>
        </p:txBody>
      </p:sp>
      <p:sp>
        <p:nvSpPr>
          <p:cNvPr id="25" name="TextBox 24"/>
          <p:cNvSpPr txBox="1"/>
          <p:nvPr/>
        </p:nvSpPr>
        <p:spPr>
          <a:xfrm>
            <a:off x="6309360" y="3154680"/>
            <a:ext cx="6217920" cy="457200"/>
          </a:xfrm>
          <a:prstGeom prst="rect">
            <a:avLst/>
          </a:prstGeom>
          <a:noFill/>
        </p:spPr>
        <p:txBody>
          <a:bodyPr wrap="square" lIns="0" rIns="0" tIns="0" bIns="0" anchor="t">
            <a:spAutoFit/>
          </a:bodyPr>
          <a:lstStyle/>
          <a:p>
            <a:pPr algn="ctr"/>
            <a:r>
              <a:rPr sz="1700">
                <a:solidFill>
                  <a:srgbClr val="F36C4A"/>
                </a:solidFill>
                <a:latin typeface="DM Sans"/>
              </a:rPr>
              <a:t>conexión directa</a:t>
            </a:r>
          </a:p>
        </p:txBody>
      </p:sp>
      <p:cxnSp>
        <p:nvCxnSpPr>
          <p:cNvPr id="26" name="Connector 25"/>
          <p:cNvCxnSpPr/>
          <p:nvPr/>
        </p:nvCxnSpPr>
        <p:spPr>
          <a:xfrm>
            <a:off x="5779008" y="3703320"/>
            <a:ext cx="7296912" cy="0"/>
          </a:xfrm>
          <a:prstGeom prst="line">
            <a:avLst/>
          </a:prstGeom>
          <a:ln w="31750">
            <a:solidFill>
              <a:srgbClr val="F36C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779008" y="6053328"/>
            <a:ext cx="1536192" cy="0"/>
          </a:xfrm>
          <a:prstGeom prst="line">
            <a:avLst/>
          </a:prstGeom>
          <a:ln w="31750">
            <a:solidFill>
              <a:srgbClr val="5B61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79008" y="8202168"/>
            <a:ext cx="1536192" cy="0"/>
          </a:xfrm>
          <a:prstGeom prst="line">
            <a:avLst/>
          </a:prstGeom>
          <a:ln w="31750">
            <a:solidFill>
              <a:srgbClr val="5B61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21440" y="6583680"/>
            <a:ext cx="1554480" cy="0"/>
          </a:xfrm>
          <a:prstGeom prst="line">
            <a:avLst/>
          </a:prstGeom>
          <a:ln w="31750">
            <a:solidFill>
              <a:srgbClr val="5B617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99032" y="3474720"/>
            <a:ext cx="8686800" cy="2011680"/>
          </a:xfrm>
          <a:prstGeom prst="rect">
            <a:avLst/>
          </a:prstGeom>
          <a:noFill/>
        </p:spPr>
        <p:txBody>
          <a:bodyPr wrap="square" lIns="0" rIns="0" tIns="0" bIns="0" anchor="t">
            <a:spAutoFit/>
          </a:bodyPr>
          <a:lstStyle/>
          <a:p>
            <a:pPr algn="l"/>
            <a:r>
              <a:rPr sz="9500">
                <a:solidFill>
                  <a:srgbClr val="215DF2"/>
                </a:solidFill>
                <a:latin typeface="Calistoga"/>
              </a:rPr>
              <a:t>Base de datos</a:t>
            </a:r>
          </a:p>
        </p:txBody>
      </p:sp>
      <p:sp>
        <p:nvSpPr>
          <p:cNvPr id="3" name="TextBox 2"/>
          <p:cNvSpPr txBox="1"/>
          <p:nvPr/>
        </p:nvSpPr>
        <p:spPr>
          <a:xfrm>
            <a:off x="1399032" y="5532120"/>
            <a:ext cx="8046720" cy="1463040"/>
          </a:xfrm>
          <a:prstGeom prst="rect">
            <a:avLst/>
          </a:prstGeom>
          <a:noFill/>
        </p:spPr>
        <p:txBody>
          <a:bodyPr wrap="square" lIns="0" rIns="0" tIns="0" bIns="0" anchor="t">
            <a:spAutoFit/>
          </a:bodyPr>
          <a:lstStyle/>
          <a:p>
            <a:pPr algn="l"/>
            <a:r>
              <a:rPr sz="3000" b="1">
                <a:solidFill>
                  <a:srgbClr val="1A1A1A"/>
                </a:solidFill>
                <a:latin typeface="DM Sans Bold"/>
              </a:rPr>
              <a:t>Dónde vive la información del gimnasio y cómo la cuidamos</a:t>
            </a:r>
          </a:p>
        </p:txBody>
      </p:sp>
      <p:pic>
        <p:nvPicPr>
          <p:cNvPr id="4" name="Animación datos">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509760" y="2834640"/>
            <a:ext cx="8229600" cy="462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PostgreSQL relacional en Neon</a:t>
            </a:r>
          </a:p>
        </p:txBody>
      </p:sp>
      <p:sp>
        <p:nvSpPr>
          <p:cNvPr id="3" name="TextBox 2"/>
          <p:cNvSpPr txBox="1"/>
          <p:nvPr/>
        </p:nvSpPr>
        <p:spPr>
          <a:xfrm>
            <a:off x="1024128" y="2011680"/>
            <a:ext cx="16002000" cy="1188720"/>
          </a:xfrm>
          <a:prstGeom prst="rect">
            <a:avLst/>
          </a:prstGeom>
          <a:noFill/>
        </p:spPr>
        <p:txBody>
          <a:bodyPr wrap="square" lIns="0" rIns="0" tIns="0" bIns="0" anchor="t">
            <a:spAutoFit/>
          </a:bodyPr>
          <a:lstStyle/>
          <a:p>
            <a:pPr algn="l"/>
            <a:r>
              <a:rPr sz="2500">
                <a:solidFill>
                  <a:srgbClr val="1A1A1A"/>
                </a:solidFill>
                <a:latin typeface="DM Sans"/>
              </a:rPr>
              <a:t>Empezamos con Firestore (documentos sueltos) y migramos a una base relacional para que la propia base haga cumplir las relaciones, las reglas y las transacciones.</a:t>
            </a:r>
          </a:p>
        </p:txBody>
      </p:sp>
      <p:sp>
        <p:nvSpPr>
          <p:cNvPr id="4" name="Banda"/>
          <p:cNvSpPr/>
          <p:nvPr/>
        </p:nvSpPr>
        <p:spPr>
          <a:xfrm>
            <a:off x="0" y="4572000"/>
            <a:ext cx="18288000" cy="5715000"/>
          </a:xfrm>
          <a:prstGeom prst="rect">
            <a:avLst/>
          </a:prstGeom>
          <a:solidFill>
            <a:srgbClr val="215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 y="4023360"/>
            <a:ext cx="1097280" cy="10972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01</a:t>
            </a:r>
          </a:p>
        </p:txBody>
      </p:sp>
      <p:sp>
        <p:nvSpPr>
          <p:cNvPr id="6" name="TextBox 5"/>
          <p:cNvSpPr txBox="1"/>
          <p:nvPr/>
        </p:nvSpPr>
        <p:spPr>
          <a:xfrm>
            <a:off x="1024128" y="5394960"/>
            <a:ext cx="3840480" cy="1463040"/>
          </a:xfrm>
          <a:prstGeom prst="rect">
            <a:avLst/>
          </a:prstGeom>
          <a:noFill/>
        </p:spPr>
        <p:txBody>
          <a:bodyPr wrap="square" lIns="0" rIns="0" tIns="0" bIns="0" anchor="t">
            <a:spAutoFit/>
          </a:bodyPr>
          <a:lstStyle/>
          <a:p>
            <a:pPr algn="l"/>
            <a:r>
              <a:rPr sz="8800">
                <a:solidFill>
                  <a:srgbClr val="FFFFFF"/>
                </a:solidFill>
                <a:latin typeface="Calistoga"/>
              </a:rPr>
              <a:t>114</a:t>
            </a:r>
          </a:p>
        </p:txBody>
      </p:sp>
      <p:sp>
        <p:nvSpPr>
          <p:cNvPr id="7" name="TextBox 6"/>
          <p:cNvSpPr txBox="1"/>
          <p:nvPr/>
        </p:nvSpPr>
        <p:spPr>
          <a:xfrm>
            <a:off x="1024128" y="6903720"/>
            <a:ext cx="3840480" cy="548640"/>
          </a:xfrm>
          <a:prstGeom prst="rect">
            <a:avLst/>
          </a:prstGeom>
          <a:noFill/>
        </p:spPr>
        <p:txBody>
          <a:bodyPr wrap="square" lIns="0" rIns="0" tIns="0" bIns="0" anchor="t">
            <a:spAutoFit/>
          </a:bodyPr>
          <a:lstStyle/>
          <a:p>
            <a:pPr algn="l"/>
            <a:r>
              <a:rPr sz="2600" b="1">
                <a:solidFill>
                  <a:srgbClr val="FFFFFF"/>
                </a:solidFill>
                <a:latin typeface="DM Sans Bold"/>
              </a:rPr>
              <a:t>tablas</a:t>
            </a:r>
          </a:p>
        </p:txBody>
      </p:sp>
      <p:sp>
        <p:nvSpPr>
          <p:cNvPr id="8" name="Oval 7"/>
          <p:cNvSpPr/>
          <p:nvPr/>
        </p:nvSpPr>
        <p:spPr>
          <a:xfrm>
            <a:off x="5230368" y="4023360"/>
            <a:ext cx="1097280" cy="10972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02</a:t>
            </a:r>
          </a:p>
        </p:txBody>
      </p:sp>
      <p:sp>
        <p:nvSpPr>
          <p:cNvPr id="9" name="TextBox 8"/>
          <p:cNvSpPr txBox="1"/>
          <p:nvPr/>
        </p:nvSpPr>
        <p:spPr>
          <a:xfrm>
            <a:off x="5230368" y="5394960"/>
            <a:ext cx="3840480" cy="1463040"/>
          </a:xfrm>
          <a:prstGeom prst="rect">
            <a:avLst/>
          </a:prstGeom>
          <a:noFill/>
        </p:spPr>
        <p:txBody>
          <a:bodyPr wrap="square" lIns="0" rIns="0" tIns="0" bIns="0" anchor="t">
            <a:spAutoFit/>
          </a:bodyPr>
          <a:lstStyle/>
          <a:p>
            <a:pPr algn="l"/>
            <a:r>
              <a:rPr sz="8800">
                <a:solidFill>
                  <a:srgbClr val="FFFFFF"/>
                </a:solidFill>
                <a:latin typeface="Calistoga"/>
              </a:rPr>
              <a:t>136</a:t>
            </a:r>
          </a:p>
        </p:txBody>
      </p:sp>
      <p:sp>
        <p:nvSpPr>
          <p:cNvPr id="10" name="TextBox 9"/>
          <p:cNvSpPr txBox="1"/>
          <p:nvPr/>
        </p:nvSpPr>
        <p:spPr>
          <a:xfrm>
            <a:off x="5230368" y="6903720"/>
            <a:ext cx="3840480" cy="548640"/>
          </a:xfrm>
          <a:prstGeom prst="rect">
            <a:avLst/>
          </a:prstGeom>
          <a:noFill/>
        </p:spPr>
        <p:txBody>
          <a:bodyPr wrap="square" lIns="0" rIns="0" tIns="0" bIns="0" anchor="t">
            <a:spAutoFit/>
          </a:bodyPr>
          <a:lstStyle/>
          <a:p>
            <a:pPr algn="l"/>
            <a:r>
              <a:rPr sz="2600" b="1">
                <a:solidFill>
                  <a:srgbClr val="FFFFFF"/>
                </a:solidFill>
                <a:latin typeface="DM Sans Bold"/>
              </a:rPr>
              <a:t>claves foráneas</a:t>
            </a:r>
          </a:p>
        </p:txBody>
      </p:sp>
      <p:sp>
        <p:nvSpPr>
          <p:cNvPr id="11" name="Oval 10"/>
          <p:cNvSpPr/>
          <p:nvPr/>
        </p:nvSpPr>
        <p:spPr>
          <a:xfrm>
            <a:off x="9436608" y="4023360"/>
            <a:ext cx="1097280" cy="10972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03</a:t>
            </a:r>
          </a:p>
        </p:txBody>
      </p:sp>
      <p:sp>
        <p:nvSpPr>
          <p:cNvPr id="12" name="TextBox 11"/>
          <p:cNvSpPr txBox="1"/>
          <p:nvPr/>
        </p:nvSpPr>
        <p:spPr>
          <a:xfrm>
            <a:off x="9436608" y="5394960"/>
            <a:ext cx="3840480" cy="1463040"/>
          </a:xfrm>
          <a:prstGeom prst="rect">
            <a:avLst/>
          </a:prstGeom>
          <a:noFill/>
        </p:spPr>
        <p:txBody>
          <a:bodyPr wrap="square" lIns="0" rIns="0" tIns="0" bIns="0" anchor="t">
            <a:spAutoFit/>
          </a:bodyPr>
          <a:lstStyle/>
          <a:p>
            <a:pPr algn="l"/>
            <a:r>
              <a:rPr sz="8800">
                <a:solidFill>
                  <a:srgbClr val="FFFFFF"/>
                </a:solidFill>
                <a:latin typeface="Calistoga"/>
              </a:rPr>
              <a:t>63</a:t>
            </a:r>
          </a:p>
        </p:txBody>
      </p:sp>
      <p:sp>
        <p:nvSpPr>
          <p:cNvPr id="13" name="TextBox 12"/>
          <p:cNvSpPr txBox="1"/>
          <p:nvPr/>
        </p:nvSpPr>
        <p:spPr>
          <a:xfrm>
            <a:off x="9436608" y="6903720"/>
            <a:ext cx="3840480" cy="548640"/>
          </a:xfrm>
          <a:prstGeom prst="rect">
            <a:avLst/>
          </a:prstGeom>
          <a:noFill/>
        </p:spPr>
        <p:txBody>
          <a:bodyPr wrap="square" lIns="0" rIns="0" tIns="0" bIns="0" anchor="t">
            <a:spAutoFit/>
          </a:bodyPr>
          <a:lstStyle/>
          <a:p>
            <a:pPr algn="l"/>
            <a:r>
              <a:rPr sz="2600" b="1">
                <a:solidFill>
                  <a:srgbClr val="FFFFFF"/>
                </a:solidFill>
                <a:latin typeface="DM Sans Bold"/>
              </a:rPr>
              <a:t>reglas CHECK</a:t>
            </a:r>
          </a:p>
        </p:txBody>
      </p:sp>
      <p:sp>
        <p:nvSpPr>
          <p:cNvPr id="14" name="Oval 13"/>
          <p:cNvSpPr/>
          <p:nvPr/>
        </p:nvSpPr>
        <p:spPr>
          <a:xfrm>
            <a:off x="13642847" y="4023360"/>
            <a:ext cx="1097280" cy="10972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04</a:t>
            </a:r>
          </a:p>
        </p:txBody>
      </p:sp>
      <p:sp>
        <p:nvSpPr>
          <p:cNvPr id="15" name="TextBox 14"/>
          <p:cNvSpPr txBox="1"/>
          <p:nvPr/>
        </p:nvSpPr>
        <p:spPr>
          <a:xfrm>
            <a:off x="13642847" y="5394960"/>
            <a:ext cx="3840480" cy="1463040"/>
          </a:xfrm>
          <a:prstGeom prst="rect">
            <a:avLst/>
          </a:prstGeom>
          <a:noFill/>
        </p:spPr>
        <p:txBody>
          <a:bodyPr wrap="square" lIns="0" rIns="0" tIns="0" bIns="0" anchor="t">
            <a:spAutoFit/>
          </a:bodyPr>
          <a:lstStyle/>
          <a:p>
            <a:pPr algn="l"/>
            <a:r>
              <a:rPr sz="8800">
                <a:solidFill>
                  <a:srgbClr val="FFFFFF"/>
                </a:solidFill>
                <a:latin typeface="Calistoga"/>
              </a:rPr>
              <a:t>13</a:t>
            </a:r>
          </a:p>
        </p:txBody>
      </p:sp>
      <p:sp>
        <p:nvSpPr>
          <p:cNvPr id="16" name="TextBox 15"/>
          <p:cNvSpPr txBox="1"/>
          <p:nvPr/>
        </p:nvSpPr>
        <p:spPr>
          <a:xfrm>
            <a:off x="13642847" y="6903720"/>
            <a:ext cx="3840480" cy="548640"/>
          </a:xfrm>
          <a:prstGeom prst="rect">
            <a:avLst/>
          </a:prstGeom>
          <a:noFill/>
        </p:spPr>
        <p:txBody>
          <a:bodyPr wrap="square" lIns="0" rIns="0" tIns="0" bIns="0" anchor="t">
            <a:spAutoFit/>
          </a:bodyPr>
          <a:lstStyle/>
          <a:p>
            <a:pPr algn="l"/>
            <a:r>
              <a:rPr sz="2600" b="1">
                <a:solidFill>
                  <a:srgbClr val="FFFFFF"/>
                </a:solidFill>
                <a:latin typeface="DM Sans Bold"/>
              </a:rPr>
              <a:t>módulos</a:t>
            </a:r>
          </a:p>
        </p:txBody>
      </p:sp>
      <p:sp>
        <p:nvSpPr>
          <p:cNvPr id="17" name="TextBox 16"/>
          <p:cNvSpPr txBox="1"/>
          <p:nvPr/>
        </p:nvSpPr>
        <p:spPr>
          <a:xfrm>
            <a:off x="1024128" y="8092440"/>
            <a:ext cx="16002000" cy="1371600"/>
          </a:xfrm>
          <a:prstGeom prst="rect">
            <a:avLst/>
          </a:prstGeom>
          <a:noFill/>
        </p:spPr>
        <p:txBody>
          <a:bodyPr wrap="square" lIns="0" rIns="0" tIns="0" bIns="0" anchor="t">
            <a:spAutoFit/>
          </a:bodyPr>
          <a:lstStyle/>
          <a:p>
            <a:pPr algn="l"/>
            <a:r>
              <a:rPr sz="2200">
                <a:solidFill>
                  <a:srgbClr val="FFFFFF"/>
                </a:solidFill>
                <a:latin typeface="DM Sans"/>
              </a:rPr>
              <a:t>Neon es PostgreSQL serverless: se apaga cuando nadie lo usa y se prende solo. Por eso cada consulta del sistema reintenta una vez reconectando si la conexión se cortó.</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Tablas por módulo</a:t>
            </a:r>
          </a:p>
        </p:txBody>
      </p:sp>
      <p:graphicFrame>
        <p:nvGraphicFramePr>
          <p:cNvPr id="3" name="Gráfico tablas por módulo"/>
          <p:cNvGraphicFramePr>
            <a:graphicFrameLocks noGrp="1"/>
          </p:cNvGraphicFramePr>
          <p:nvPr/>
        </p:nvGraphicFramePr>
        <p:xfrm>
          <a:off x="914400" y="2103120"/>
          <a:ext cx="10424160" cy="7772400"/>
        </p:xfrm>
        <a:graphic>
          <a:graphicData uri="http://schemas.openxmlformats.org/drawingml/2006/chart">
            <c:chart xmlns:c="http://schemas.openxmlformats.org/drawingml/2006/chart" r:id="rId2"/>
          </a:graphicData>
        </a:graphic>
      </p:graphicFrame>
      <p:sp>
        <p:nvSpPr>
          <p:cNvPr id="4" name="TextBox 3"/>
          <p:cNvSpPr txBox="1"/>
          <p:nvPr/>
        </p:nvSpPr>
        <p:spPr>
          <a:xfrm>
            <a:off x="12070080" y="2926080"/>
            <a:ext cx="5303520" cy="640080"/>
          </a:xfrm>
          <a:prstGeom prst="rect">
            <a:avLst/>
          </a:prstGeom>
          <a:noFill/>
        </p:spPr>
        <p:txBody>
          <a:bodyPr wrap="square" lIns="0" rIns="0" tIns="0" bIns="0" anchor="t">
            <a:spAutoFit/>
          </a:bodyPr>
          <a:lstStyle/>
          <a:p>
            <a:pPr algn="l"/>
            <a:r>
              <a:rPr sz="2800" b="1">
                <a:solidFill>
                  <a:srgbClr val="1A1A1A"/>
                </a:solidFill>
                <a:latin typeface="DM Sans Bold"/>
              </a:rPr>
              <a:t>Organizada por módulos</a:t>
            </a:r>
          </a:p>
        </p:txBody>
      </p:sp>
      <p:sp>
        <p:nvSpPr>
          <p:cNvPr id="5" name="TextBox 4"/>
          <p:cNvSpPr txBox="1"/>
          <p:nvPr/>
        </p:nvSpPr>
        <p:spPr>
          <a:xfrm>
            <a:off x="12070080" y="3749039"/>
            <a:ext cx="5303520" cy="5029200"/>
          </a:xfrm>
          <a:prstGeom prst="rect">
            <a:avLst/>
          </a:prstGeom>
          <a:noFill/>
        </p:spPr>
        <p:txBody>
          <a:bodyPr wrap="square" lIns="0" rIns="0" tIns="0" bIns="0" anchor="t">
            <a:spAutoFit/>
          </a:bodyPr>
          <a:lstStyle/>
          <a:p>
            <a:pPr algn="l">
              <a:spcAft>
                <a:spcPts val="1600"/>
              </a:spcAft>
            </a:pPr>
            <a:r>
              <a:rPr sz="2200">
                <a:solidFill>
                  <a:srgbClr val="1A1A1A"/>
                </a:solidFill>
                <a:latin typeface="DM Sans"/>
              </a:rPr>
              <a:t>Cada módulo agrupa las tablas de una parte del gimnasio.</a:t>
            </a:r>
          </a:p>
          <a:p>
            <a:pPr algn="l">
              <a:spcAft>
                <a:spcPts val="1600"/>
              </a:spcAft>
            </a:pPr>
            <a:r>
              <a:rPr sz="2200">
                <a:solidFill>
                  <a:srgbClr val="1A1A1A"/>
                </a:solidFill>
                <a:latin typeface="DM Sans"/>
              </a:rPr>
              <a:t>Nutrición es el más grande: dietas, comidas, alimentos y planes asignados a cada socio.</a:t>
            </a:r>
          </a:p>
          <a:p>
            <a:pPr algn="l"/>
            <a:r>
              <a:rPr sz="2200">
                <a:solidFill>
                  <a:srgbClr val="1A1A1A"/>
                </a:solidFill>
                <a:latin typeface="DM Sans"/>
              </a:rPr>
              <a:t>La documentación (diccionario de datos y diagrama) se genera sola desde la base.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Reglas que la base hace cumplir</a:t>
            </a:r>
          </a:p>
        </p:txBody>
      </p:sp>
      <p:sp>
        <p:nvSpPr>
          <p:cNvPr id="3" name="TextBox 2"/>
          <p:cNvSpPr txBox="1"/>
          <p:nvPr/>
        </p:nvSpPr>
        <p:spPr>
          <a:xfrm>
            <a:off x="1024128" y="2011680"/>
            <a:ext cx="16002000" cy="731520"/>
          </a:xfrm>
          <a:prstGeom prst="rect">
            <a:avLst/>
          </a:prstGeom>
          <a:noFill/>
        </p:spPr>
        <p:txBody>
          <a:bodyPr wrap="square" lIns="0" rIns="0" tIns="0" bIns="0" anchor="t">
            <a:spAutoFit/>
          </a:bodyPr>
          <a:lstStyle/>
          <a:p>
            <a:pPr algn="l"/>
            <a:r>
              <a:rPr sz="2600">
                <a:solidFill>
                  <a:srgbClr val="5B6170"/>
                </a:solidFill>
                <a:latin typeface="DM Sans"/>
              </a:rPr>
              <a:t>Aunque una aplicación tenga un error, la base no acepta datos inválidos</a:t>
            </a:r>
          </a:p>
        </p:txBody>
      </p:sp>
      <p:sp>
        <p:nvSpPr>
          <p:cNvPr id="4" name="Oval 3"/>
          <p:cNvSpPr/>
          <p:nvPr/>
        </p:nvSpPr>
        <p:spPr>
          <a:xfrm>
            <a:off x="1024128" y="3246120"/>
            <a:ext cx="1005840" cy="100584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01</a:t>
            </a:r>
          </a:p>
        </p:txBody>
      </p:sp>
      <p:sp>
        <p:nvSpPr>
          <p:cNvPr id="5" name="TextBox 4"/>
          <p:cNvSpPr txBox="1"/>
          <p:nvPr/>
        </p:nvSpPr>
        <p:spPr>
          <a:xfrm>
            <a:off x="2395728" y="3291839"/>
            <a:ext cx="6583680" cy="640080"/>
          </a:xfrm>
          <a:prstGeom prst="rect">
            <a:avLst/>
          </a:prstGeom>
          <a:noFill/>
        </p:spPr>
        <p:txBody>
          <a:bodyPr wrap="square" lIns="0" rIns="0" tIns="0" bIns="0" anchor="t">
            <a:spAutoFit/>
          </a:bodyPr>
          <a:lstStyle/>
          <a:p>
            <a:pPr algn="l"/>
            <a:r>
              <a:rPr sz="2700" b="1">
                <a:solidFill>
                  <a:srgbClr val="1A1A1A"/>
                </a:solidFill>
                <a:latin typeface="DM Sans Bold"/>
              </a:rPr>
              <a:t>Claves primarias y foráneas</a:t>
            </a:r>
          </a:p>
        </p:txBody>
      </p:sp>
      <p:sp>
        <p:nvSpPr>
          <p:cNvPr id="6" name="TextBox 5"/>
          <p:cNvSpPr txBox="1"/>
          <p:nvPr/>
        </p:nvSpPr>
        <p:spPr>
          <a:xfrm>
            <a:off x="2395728" y="4023359"/>
            <a:ext cx="6583680" cy="2194560"/>
          </a:xfrm>
          <a:prstGeom prst="rect">
            <a:avLst/>
          </a:prstGeom>
          <a:noFill/>
        </p:spPr>
        <p:txBody>
          <a:bodyPr wrap="square" lIns="0" rIns="0" tIns="0" bIns="0" anchor="t">
            <a:spAutoFit/>
          </a:bodyPr>
          <a:lstStyle/>
          <a:p>
            <a:pPr algn="l"/>
            <a:r>
              <a:rPr sz="2200">
                <a:solidFill>
                  <a:srgbClr val="1A1A1A"/>
                </a:solidFill>
                <a:latin typeface="DM Sans"/>
              </a:rPr>
              <a:t>Cada pago, reserva o rutina apunta a un socio que existe. Si se borra un empleado, su ficha de entrenador se borra en cascada.</a:t>
            </a:r>
          </a:p>
        </p:txBody>
      </p:sp>
      <p:sp>
        <p:nvSpPr>
          <p:cNvPr id="7" name="Oval 6"/>
          <p:cNvSpPr/>
          <p:nvPr/>
        </p:nvSpPr>
        <p:spPr>
          <a:xfrm>
            <a:off x="9436608" y="3246120"/>
            <a:ext cx="1005840" cy="100584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02</a:t>
            </a:r>
          </a:p>
        </p:txBody>
      </p:sp>
      <p:sp>
        <p:nvSpPr>
          <p:cNvPr id="8" name="TextBox 7"/>
          <p:cNvSpPr txBox="1"/>
          <p:nvPr/>
        </p:nvSpPr>
        <p:spPr>
          <a:xfrm>
            <a:off x="10808208" y="3291839"/>
            <a:ext cx="6583680" cy="640080"/>
          </a:xfrm>
          <a:prstGeom prst="rect">
            <a:avLst/>
          </a:prstGeom>
          <a:noFill/>
        </p:spPr>
        <p:txBody>
          <a:bodyPr wrap="square" lIns="0" rIns="0" tIns="0" bIns="0" anchor="t">
            <a:spAutoFit/>
          </a:bodyPr>
          <a:lstStyle/>
          <a:p>
            <a:pPr algn="l"/>
            <a:r>
              <a:rPr sz="2700" b="1">
                <a:solidFill>
                  <a:srgbClr val="1A1A1A"/>
                </a:solidFill>
                <a:latin typeface="DM Sans Bold"/>
              </a:rPr>
              <a:t>Reglas CHECK</a:t>
            </a:r>
          </a:p>
        </p:txBody>
      </p:sp>
      <p:sp>
        <p:nvSpPr>
          <p:cNvPr id="9" name="TextBox 8"/>
          <p:cNvSpPr txBox="1"/>
          <p:nvPr/>
        </p:nvSpPr>
        <p:spPr>
          <a:xfrm>
            <a:off x="10808208" y="4023359"/>
            <a:ext cx="6583680" cy="2194560"/>
          </a:xfrm>
          <a:prstGeom prst="rect">
            <a:avLst/>
          </a:prstGeom>
          <a:noFill/>
        </p:spPr>
        <p:txBody>
          <a:bodyPr wrap="square" lIns="0" rIns="0" tIns="0" bIns="0" anchor="t">
            <a:spAutoFit/>
          </a:bodyPr>
          <a:lstStyle/>
          <a:p>
            <a:pPr algn="l"/>
            <a:r>
              <a:rPr sz="2200">
                <a:solidFill>
                  <a:srgbClr val="1A1A1A"/>
                </a:solidFill>
                <a:latin typeface="DM Sans"/>
              </a:rPr>
              <a:t>El DNI tiene 7 u 8 dígitos, el estado es activo o inactivo, el sueldo y el stock no pueden ser negativos.</a:t>
            </a:r>
          </a:p>
        </p:txBody>
      </p:sp>
      <p:sp>
        <p:nvSpPr>
          <p:cNvPr id="10" name="Oval 9"/>
          <p:cNvSpPr/>
          <p:nvPr/>
        </p:nvSpPr>
        <p:spPr>
          <a:xfrm>
            <a:off x="1024128" y="6492240"/>
            <a:ext cx="1005840" cy="100584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03</a:t>
            </a:r>
          </a:p>
        </p:txBody>
      </p:sp>
      <p:sp>
        <p:nvSpPr>
          <p:cNvPr id="11" name="TextBox 10"/>
          <p:cNvSpPr txBox="1"/>
          <p:nvPr/>
        </p:nvSpPr>
        <p:spPr>
          <a:xfrm>
            <a:off x="2395728" y="6537959"/>
            <a:ext cx="6583680" cy="640080"/>
          </a:xfrm>
          <a:prstGeom prst="rect">
            <a:avLst/>
          </a:prstGeom>
          <a:noFill/>
        </p:spPr>
        <p:txBody>
          <a:bodyPr wrap="square" lIns="0" rIns="0" tIns="0" bIns="0" anchor="t">
            <a:spAutoFit/>
          </a:bodyPr>
          <a:lstStyle/>
          <a:p>
            <a:pPr algn="l"/>
            <a:r>
              <a:rPr sz="2700" b="1">
                <a:solidFill>
                  <a:srgbClr val="1A1A1A"/>
                </a:solidFill>
                <a:latin typeface="DM Sans Bold"/>
              </a:rPr>
              <a:t>Valores únicos</a:t>
            </a:r>
          </a:p>
        </p:txBody>
      </p:sp>
      <p:sp>
        <p:nvSpPr>
          <p:cNvPr id="12" name="TextBox 11"/>
          <p:cNvSpPr txBox="1"/>
          <p:nvPr/>
        </p:nvSpPr>
        <p:spPr>
          <a:xfrm>
            <a:off x="2395728" y="7269479"/>
            <a:ext cx="6583680" cy="2194560"/>
          </a:xfrm>
          <a:prstGeom prst="rect">
            <a:avLst/>
          </a:prstGeom>
          <a:noFill/>
        </p:spPr>
        <p:txBody>
          <a:bodyPr wrap="square" lIns="0" rIns="0" tIns="0" bIns="0" anchor="t">
            <a:spAutoFit/>
          </a:bodyPr>
          <a:lstStyle/>
          <a:p>
            <a:pPr algn="l"/>
            <a:r>
              <a:rPr sz="2200">
                <a:solidFill>
                  <a:srgbClr val="1A1A1A"/>
                </a:solidFill>
                <a:latin typeface="DM Sans"/>
              </a:rPr>
              <a:t>No hay dos cuentas con el mismo email ni dos productos con el mismo nombre o SKU (sin importar mayúsculas).</a:t>
            </a:r>
          </a:p>
        </p:txBody>
      </p:sp>
      <p:sp>
        <p:nvSpPr>
          <p:cNvPr id="13" name="Oval 12"/>
          <p:cNvSpPr/>
          <p:nvPr/>
        </p:nvSpPr>
        <p:spPr>
          <a:xfrm>
            <a:off x="9436608" y="6492240"/>
            <a:ext cx="1005840" cy="100584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04</a:t>
            </a:r>
          </a:p>
        </p:txBody>
      </p:sp>
      <p:sp>
        <p:nvSpPr>
          <p:cNvPr id="14" name="TextBox 13"/>
          <p:cNvSpPr txBox="1"/>
          <p:nvPr/>
        </p:nvSpPr>
        <p:spPr>
          <a:xfrm>
            <a:off x="10808208" y="6537959"/>
            <a:ext cx="6583680" cy="640080"/>
          </a:xfrm>
          <a:prstGeom prst="rect">
            <a:avLst/>
          </a:prstGeom>
          <a:noFill/>
        </p:spPr>
        <p:txBody>
          <a:bodyPr wrap="square" lIns="0" rIns="0" tIns="0" bIns="0" anchor="t">
            <a:spAutoFit/>
          </a:bodyPr>
          <a:lstStyle/>
          <a:p>
            <a:pPr algn="l"/>
            <a:r>
              <a:rPr sz="2700" b="1">
                <a:solidFill>
                  <a:srgbClr val="1A1A1A"/>
                </a:solidFill>
                <a:latin typeface="DM Sans Bold"/>
              </a:rPr>
              <a:t>Índices</a:t>
            </a:r>
          </a:p>
        </p:txBody>
      </p:sp>
      <p:sp>
        <p:nvSpPr>
          <p:cNvPr id="15" name="TextBox 14"/>
          <p:cNvSpPr txBox="1"/>
          <p:nvPr/>
        </p:nvSpPr>
        <p:spPr>
          <a:xfrm>
            <a:off x="10808208" y="7269479"/>
            <a:ext cx="6583680" cy="2194560"/>
          </a:xfrm>
          <a:prstGeom prst="rect">
            <a:avLst/>
          </a:prstGeom>
          <a:noFill/>
        </p:spPr>
        <p:txBody>
          <a:bodyPr wrap="square" lIns="0" rIns="0" tIns="0" bIns="0" anchor="t">
            <a:spAutoFit/>
          </a:bodyPr>
          <a:lstStyle/>
          <a:p>
            <a:pPr algn="l"/>
            <a:r>
              <a:rPr sz="2200">
                <a:solidFill>
                  <a:srgbClr val="1A1A1A"/>
                </a:solidFill>
                <a:latin typeface="DM Sans"/>
              </a:rPr>
              <a:t>Búsquedas rápidas por email, DNI o usuario: el login no recorre toda la tabla.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nel"/>
          <p:cNvSpPr/>
          <p:nvPr/>
        </p:nvSpPr>
        <p:spPr>
          <a:xfrm>
            <a:off x="0" y="0"/>
            <a:ext cx="7863840" cy="10287000"/>
          </a:xfrm>
          <a:prstGeom prst="rect">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1280160"/>
            <a:ext cx="6035040" cy="2743200"/>
          </a:xfrm>
          <a:prstGeom prst="rect">
            <a:avLst/>
          </a:prstGeom>
          <a:noFill/>
        </p:spPr>
        <p:txBody>
          <a:bodyPr wrap="square" lIns="0" rIns="0" tIns="0" bIns="0" anchor="t">
            <a:spAutoFit/>
          </a:bodyPr>
          <a:lstStyle/>
          <a:p>
            <a:pPr algn="l"/>
            <a:r>
              <a:rPr sz="6000">
                <a:solidFill>
                  <a:srgbClr val="FFFFFF"/>
                </a:solidFill>
                <a:latin typeface="Calistoga"/>
              </a:rPr>
              <a:t>Transacciones: todo o nada</a:t>
            </a:r>
          </a:p>
        </p:txBody>
      </p:sp>
      <p:sp>
        <p:nvSpPr>
          <p:cNvPr id="4" name="TextBox 3"/>
          <p:cNvSpPr txBox="1"/>
          <p:nvPr/>
        </p:nvSpPr>
        <p:spPr>
          <a:xfrm>
            <a:off x="1024128" y="4389120"/>
            <a:ext cx="6035040" cy="1280160"/>
          </a:xfrm>
          <a:prstGeom prst="rect">
            <a:avLst/>
          </a:prstGeom>
          <a:noFill/>
        </p:spPr>
        <p:txBody>
          <a:bodyPr wrap="square" lIns="0" rIns="0" tIns="0" bIns="0" anchor="t">
            <a:spAutoFit/>
          </a:bodyPr>
          <a:lstStyle/>
          <a:p>
            <a:pPr algn="l"/>
            <a:r>
              <a:rPr sz="2700" b="1">
                <a:solidFill>
                  <a:srgbClr val="FFFFFF"/>
                </a:solidFill>
                <a:latin typeface="DM Sans Bold"/>
              </a:rPr>
              <a:t>Varios pasos que se guardan juntos o no se guarda ninguno.</a:t>
            </a:r>
          </a:p>
        </p:txBody>
      </p:sp>
      <p:sp>
        <p:nvSpPr>
          <p:cNvPr id="5" name="TextBox 4"/>
          <p:cNvSpPr txBox="1"/>
          <p:nvPr/>
        </p:nvSpPr>
        <p:spPr>
          <a:xfrm>
            <a:off x="1024128" y="6035040"/>
            <a:ext cx="6035040" cy="3200400"/>
          </a:xfrm>
          <a:prstGeom prst="rect">
            <a:avLst/>
          </a:prstGeom>
          <a:noFill/>
        </p:spPr>
        <p:txBody>
          <a:bodyPr wrap="square" lIns="0" rIns="0" tIns="0" bIns="0" anchor="t">
            <a:spAutoFit/>
          </a:bodyPr>
          <a:lstStyle/>
          <a:p>
            <a:pPr algn="l"/>
            <a:r>
              <a:rPr sz="2200">
                <a:solidFill>
                  <a:srgbClr val="FFFFFF"/>
                </a:solidFill>
                <a:latin typeface="DM Sans"/>
              </a:rPr>
              <a:t>Ejemplo real: cuando un socio pide un producto en la NutriStore, dos personas no pueden llevarse la última unidad.</a:t>
            </a:r>
          </a:p>
        </p:txBody>
      </p:sp>
      <p:sp>
        <p:nvSpPr>
          <p:cNvPr id="6" name="Código"/>
          <p:cNvSpPr/>
          <p:nvPr/>
        </p:nvSpPr>
        <p:spPr>
          <a:xfrm>
            <a:off x="8778240" y="1188720"/>
            <a:ext cx="8595360" cy="3657600"/>
          </a:xfrm>
          <a:prstGeom prst="roundRect">
            <a:avLst>
              <a:gd name="adj" fmla="val 5000"/>
            </a:avLst>
          </a:prstGeom>
          <a:solidFill>
            <a:srgbClr val="1E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0" y="1600200"/>
            <a:ext cx="7863840" cy="3657600"/>
          </a:xfrm>
          <a:prstGeom prst="rect">
            <a:avLst/>
          </a:prstGeom>
          <a:noFill/>
        </p:spPr>
        <p:txBody>
          <a:bodyPr wrap="square" lIns="0" rIns="0" tIns="0" bIns="0" anchor="t">
            <a:spAutoFit/>
          </a:bodyPr>
          <a:lstStyle/>
          <a:p>
            <a:pPr algn="l"/>
            <a:r>
              <a:rPr sz="2000">
                <a:solidFill>
                  <a:srgbClr val="E8ECF8"/>
                </a:solidFill>
                <a:latin typeface="Courier New"/>
              </a:rPr>
              <a:t>BEGIN;</a:t>
            </a:r>
          </a:p>
          <a:p>
            <a:pPr algn="l"/>
            <a:r>
              <a:rPr sz="2000">
                <a:solidFill>
                  <a:srgbClr val="E8ECF8"/>
                </a:solidFill>
                <a:latin typeface="Courier New"/>
              </a:rPr>
              <a:t>SELECT stock FROM productos</a:t>
            </a:r>
          </a:p>
          <a:p>
            <a:pPr algn="l"/>
            <a:r>
              <a:rPr sz="2000">
                <a:solidFill>
                  <a:srgbClr val="E8ECF8"/>
                </a:solidFill>
                <a:latin typeface="Courier New"/>
              </a:rPr>
              <a:t>  WHERE id_producto = 7 FOR UPDATE;</a:t>
            </a:r>
          </a:p>
          <a:p>
            <a:pPr algn="l"/>
            <a:r>
              <a:rPr sz="2000">
                <a:solidFill>
                  <a:srgbClr val="E8ECF8"/>
                </a:solidFill>
                <a:latin typeface="Courier New"/>
              </a:rPr>
              <a:t>UPDATE productos SET stock = stock - 1</a:t>
            </a:r>
          </a:p>
          <a:p>
            <a:pPr algn="l"/>
            <a:r>
              <a:rPr sz="2000">
                <a:solidFill>
                  <a:srgbClr val="E8ECF8"/>
                </a:solidFill>
                <a:latin typeface="Courier New"/>
              </a:rPr>
              <a:t>  WHERE id_producto = 7;</a:t>
            </a:r>
          </a:p>
          <a:p>
            <a:pPr algn="l"/>
            <a:r>
              <a:rPr sz="2000">
                <a:solidFill>
                  <a:srgbClr val="E8ECF8"/>
                </a:solidFill>
                <a:latin typeface="Courier New"/>
              </a:rPr>
              <a:t>INSERT INTO pedidostienda (...);</a:t>
            </a:r>
          </a:p>
          <a:p>
            <a:pPr algn="l"/>
            <a:r>
              <a:rPr sz="2000">
                <a:solidFill>
                  <a:srgbClr val="E8ECF8"/>
                </a:solidFill>
                <a:latin typeface="Courier New"/>
              </a:rPr>
              <a:t>COMMIT;</a:t>
            </a:r>
          </a:p>
        </p:txBody>
      </p:sp>
      <p:sp>
        <p:nvSpPr>
          <p:cNvPr id="8" name="Viñeta 1"/>
          <p:cNvSpPr/>
          <p:nvPr/>
        </p:nvSpPr>
        <p:spPr>
          <a:xfrm>
            <a:off x="8778240" y="6153912"/>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64040" y="6035040"/>
            <a:ext cx="8092440" cy="914400"/>
          </a:xfrm>
          <a:prstGeom prst="rect">
            <a:avLst/>
          </a:prstGeom>
          <a:noFill/>
        </p:spPr>
        <p:txBody>
          <a:bodyPr wrap="square" lIns="0" rIns="0" tIns="0" bIns="0" anchor="t">
            <a:spAutoFit/>
          </a:bodyPr>
          <a:lstStyle/>
          <a:p>
            <a:pPr algn="l"/>
            <a:r>
              <a:rPr sz="2200">
                <a:solidFill>
                  <a:srgbClr val="1A1A1A"/>
                </a:solidFill>
                <a:latin typeface="DM Sans"/>
              </a:rPr>
              <a:t>FOR UPDATE bloquea la fila mientras dura el pedido</a:t>
            </a:r>
          </a:p>
        </p:txBody>
      </p:sp>
      <p:sp>
        <p:nvSpPr>
          <p:cNvPr id="10" name="Viñeta 2"/>
          <p:cNvSpPr/>
          <p:nvPr/>
        </p:nvSpPr>
        <p:spPr>
          <a:xfrm>
            <a:off x="8778240" y="7068312"/>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64040" y="6949440"/>
            <a:ext cx="8092440" cy="914400"/>
          </a:xfrm>
          <a:prstGeom prst="rect">
            <a:avLst/>
          </a:prstGeom>
          <a:noFill/>
        </p:spPr>
        <p:txBody>
          <a:bodyPr wrap="square" lIns="0" rIns="0" tIns="0" bIns="0" anchor="t">
            <a:spAutoFit/>
          </a:bodyPr>
          <a:lstStyle/>
          <a:p>
            <a:pPr algn="l"/>
            <a:r>
              <a:rPr sz="2200">
                <a:solidFill>
                  <a:srgbClr val="1A1A1A"/>
                </a:solidFill>
                <a:latin typeface="DM Sans"/>
              </a:rPr>
              <a:t>El precio sale de la base, nunca de la app</a:t>
            </a:r>
          </a:p>
        </p:txBody>
      </p:sp>
      <p:sp>
        <p:nvSpPr>
          <p:cNvPr id="12" name="Viñeta 3"/>
          <p:cNvSpPr/>
          <p:nvPr/>
        </p:nvSpPr>
        <p:spPr>
          <a:xfrm>
            <a:off x="8778240" y="7982712"/>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4040" y="7863840"/>
            <a:ext cx="8092440" cy="914400"/>
          </a:xfrm>
          <a:prstGeom prst="rect">
            <a:avLst/>
          </a:prstGeom>
          <a:noFill/>
        </p:spPr>
        <p:txBody>
          <a:bodyPr wrap="square" lIns="0" rIns="0" tIns="0" bIns="0" anchor="t">
            <a:spAutoFit/>
          </a:bodyPr>
          <a:lstStyle/>
          <a:p>
            <a:pPr algn="l"/>
            <a:r>
              <a:rPr sz="2200">
                <a:solidFill>
                  <a:srgbClr val="1A1A1A"/>
                </a:solidFill>
                <a:latin typeface="DM Sans"/>
              </a:rPr>
              <a:t>Cancelar un pedido devuelve el stock</a:t>
            </a:r>
          </a:p>
        </p:txBody>
      </p:sp>
      <p:sp>
        <p:nvSpPr>
          <p:cNvPr id="14" name="Viñeta 4"/>
          <p:cNvSpPr/>
          <p:nvPr/>
        </p:nvSpPr>
        <p:spPr>
          <a:xfrm>
            <a:off x="8778240" y="8897112"/>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64040" y="8778240"/>
            <a:ext cx="8092440" cy="914400"/>
          </a:xfrm>
          <a:prstGeom prst="rect">
            <a:avLst/>
          </a:prstGeom>
          <a:noFill/>
        </p:spPr>
        <p:txBody>
          <a:bodyPr wrap="square" lIns="0" rIns="0" tIns="0" bIns="0" anchor="t">
            <a:spAutoFit/>
          </a:bodyPr>
          <a:lstStyle/>
          <a:p>
            <a:pPr algn="l"/>
            <a:r>
              <a:rPr sz="2200">
                <a:solidFill>
                  <a:srgbClr val="1A1A1A"/>
                </a:solidFill>
                <a:latin typeface="DM Sans"/>
              </a:rPr>
              <a:t>Pagos: el aviso repetido de Mercado Pago no duplica nada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15DF2"/>
        </a:solidFill>
        <a:effectLst/>
      </p:bgPr>
    </p:bg>
    <p:spTree>
      <p:nvGrpSpPr>
        <p:cNvPr id="1" name=""/>
        <p:cNvGrpSpPr/>
        <p:nvPr/>
      </p:nvGrpSpPr>
      <p:grpSpPr/>
      <p:sp>
        <p:nvSpPr>
          <p:cNvPr id="2" name="Marco animación"/>
          <p:cNvSpPr/>
          <p:nvPr/>
        </p:nvSpPr>
        <p:spPr>
          <a:xfrm>
            <a:off x="822960" y="2377440"/>
            <a:ext cx="6766560" cy="5486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Animación escud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60120" y="3227832"/>
            <a:ext cx="6492240" cy="3651885"/>
          </a:xfrm>
          <a:prstGeom prst="rect">
            <a:avLst/>
          </a:prstGeom>
        </p:spPr>
      </p:pic>
      <p:sp>
        <p:nvSpPr>
          <p:cNvPr id="4" name="TextBox 3"/>
          <p:cNvSpPr txBox="1"/>
          <p:nvPr/>
        </p:nvSpPr>
        <p:spPr>
          <a:xfrm>
            <a:off x="8412480" y="1097280"/>
            <a:ext cx="9144000" cy="1188720"/>
          </a:xfrm>
          <a:prstGeom prst="rect">
            <a:avLst/>
          </a:prstGeom>
          <a:noFill/>
        </p:spPr>
        <p:txBody>
          <a:bodyPr wrap="square" lIns="0" rIns="0" tIns="0" bIns="0" anchor="t">
            <a:spAutoFit/>
          </a:bodyPr>
          <a:lstStyle/>
          <a:p>
            <a:pPr algn="l"/>
            <a:r>
              <a:rPr sz="5800">
                <a:solidFill>
                  <a:srgbClr val="FFFFFF"/>
                </a:solidFill>
                <a:latin typeface="Calistoga"/>
              </a:rPr>
              <a:t>Seguridad de los datos</a:t>
            </a:r>
          </a:p>
        </p:txBody>
      </p:sp>
      <p:sp>
        <p:nvSpPr>
          <p:cNvPr id="5" name="Viñeta 1"/>
          <p:cNvSpPr/>
          <p:nvPr/>
        </p:nvSpPr>
        <p:spPr>
          <a:xfrm>
            <a:off x="8412480" y="2898648"/>
            <a:ext cx="329184" cy="329184"/>
          </a:xfrm>
          <a:prstGeom prst="ellipse">
            <a:avLst/>
          </a:prstGeom>
          <a:solidFill>
            <a:srgbClr val="FFC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6840" y="2788920"/>
            <a:ext cx="8595360" cy="548640"/>
          </a:xfrm>
          <a:prstGeom prst="rect">
            <a:avLst/>
          </a:prstGeom>
          <a:noFill/>
        </p:spPr>
        <p:txBody>
          <a:bodyPr wrap="square" lIns="0" rIns="0" tIns="0" bIns="0" anchor="t">
            <a:spAutoFit/>
          </a:bodyPr>
          <a:lstStyle/>
          <a:p>
            <a:pPr algn="l"/>
            <a:r>
              <a:rPr sz="2600" b="1">
                <a:solidFill>
                  <a:srgbClr val="FFFFFF"/>
                </a:solidFill>
                <a:latin typeface="DM Sans Bold"/>
              </a:rPr>
              <a:t>Contraseñas con scrypt</a:t>
            </a:r>
          </a:p>
        </p:txBody>
      </p:sp>
      <p:sp>
        <p:nvSpPr>
          <p:cNvPr id="7" name="TextBox 6"/>
          <p:cNvSpPr txBox="1"/>
          <p:nvPr/>
        </p:nvSpPr>
        <p:spPr>
          <a:xfrm>
            <a:off x="9006840" y="3383279"/>
            <a:ext cx="8595360" cy="1097280"/>
          </a:xfrm>
          <a:prstGeom prst="rect">
            <a:avLst/>
          </a:prstGeom>
          <a:noFill/>
        </p:spPr>
        <p:txBody>
          <a:bodyPr wrap="square" lIns="0" rIns="0" tIns="0" bIns="0" anchor="t">
            <a:spAutoFit/>
          </a:bodyPr>
          <a:lstStyle/>
          <a:p>
            <a:pPr algn="l"/>
            <a:r>
              <a:rPr sz="2000">
                <a:solidFill>
                  <a:srgbClr val="FFFFFF"/>
                </a:solidFill>
                <a:latin typeface="DM Sans"/>
              </a:rPr>
              <a:t>Se guarda un hash con sal aleatoria, lento a propósito para frenar ataques de fuerza bruta.</a:t>
            </a:r>
          </a:p>
        </p:txBody>
      </p:sp>
      <p:sp>
        <p:nvSpPr>
          <p:cNvPr id="8" name="Viñeta 2"/>
          <p:cNvSpPr/>
          <p:nvPr/>
        </p:nvSpPr>
        <p:spPr>
          <a:xfrm>
            <a:off x="8412480" y="4681728"/>
            <a:ext cx="329184" cy="329184"/>
          </a:xfrm>
          <a:prstGeom prst="ellipse">
            <a:avLst/>
          </a:prstGeom>
          <a:solidFill>
            <a:srgbClr val="FFC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4572000"/>
            <a:ext cx="8595360" cy="548640"/>
          </a:xfrm>
          <a:prstGeom prst="rect">
            <a:avLst/>
          </a:prstGeom>
          <a:noFill/>
        </p:spPr>
        <p:txBody>
          <a:bodyPr wrap="square" lIns="0" rIns="0" tIns="0" bIns="0" anchor="t">
            <a:spAutoFit/>
          </a:bodyPr>
          <a:lstStyle/>
          <a:p>
            <a:pPr algn="l"/>
            <a:r>
              <a:rPr sz="2600" b="1">
                <a:solidFill>
                  <a:srgbClr val="FFFFFF"/>
                </a:solidFill>
                <a:latin typeface="DM Sans Bold"/>
              </a:rPr>
              <a:t>Credenciales fuera de GitHub</a:t>
            </a:r>
          </a:p>
        </p:txBody>
      </p:sp>
      <p:sp>
        <p:nvSpPr>
          <p:cNvPr id="10" name="TextBox 9"/>
          <p:cNvSpPr txBox="1"/>
          <p:nvPr/>
        </p:nvSpPr>
        <p:spPr>
          <a:xfrm>
            <a:off x="9006840" y="5166360"/>
            <a:ext cx="8595360" cy="1097280"/>
          </a:xfrm>
          <a:prstGeom prst="rect">
            <a:avLst/>
          </a:prstGeom>
          <a:noFill/>
        </p:spPr>
        <p:txBody>
          <a:bodyPr wrap="square" lIns="0" rIns="0" tIns="0" bIns="0" anchor="t">
            <a:spAutoFit/>
          </a:bodyPr>
          <a:lstStyle/>
          <a:p>
            <a:pPr algn="l"/>
            <a:r>
              <a:rPr sz="2000">
                <a:solidFill>
                  <a:srgbClr val="FFFFFF"/>
                </a:solidFill>
                <a:latin typeface="DM Sans"/>
              </a:rPr>
              <a:t>Las claves de la base y de los servicios están en archivos locales ignorados por git.</a:t>
            </a:r>
          </a:p>
        </p:txBody>
      </p:sp>
      <p:sp>
        <p:nvSpPr>
          <p:cNvPr id="11" name="Viñeta 3"/>
          <p:cNvSpPr/>
          <p:nvPr/>
        </p:nvSpPr>
        <p:spPr>
          <a:xfrm>
            <a:off x="8412480" y="6464807"/>
            <a:ext cx="329184" cy="329184"/>
          </a:xfrm>
          <a:prstGeom prst="ellipse">
            <a:avLst/>
          </a:prstGeom>
          <a:solidFill>
            <a:srgbClr val="FFC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6355079"/>
            <a:ext cx="8595360" cy="548640"/>
          </a:xfrm>
          <a:prstGeom prst="rect">
            <a:avLst/>
          </a:prstGeom>
          <a:noFill/>
        </p:spPr>
        <p:txBody>
          <a:bodyPr wrap="square" lIns="0" rIns="0" tIns="0" bIns="0" anchor="t">
            <a:spAutoFit/>
          </a:bodyPr>
          <a:lstStyle/>
          <a:p>
            <a:pPr algn="l"/>
            <a:r>
              <a:rPr sz="2600" b="1">
                <a:solidFill>
                  <a:srgbClr val="FFFFFF"/>
                </a:solidFill>
                <a:latin typeface="DM Sans Bold"/>
              </a:rPr>
              <a:t>Secretos solo en el servidor</a:t>
            </a:r>
          </a:p>
        </p:txBody>
      </p:sp>
      <p:sp>
        <p:nvSpPr>
          <p:cNvPr id="13" name="TextBox 12"/>
          <p:cNvSpPr txBox="1"/>
          <p:nvPr/>
        </p:nvSpPr>
        <p:spPr>
          <a:xfrm>
            <a:off x="9006840" y="6949440"/>
            <a:ext cx="8595360" cy="1097280"/>
          </a:xfrm>
          <a:prstGeom prst="rect">
            <a:avLst/>
          </a:prstGeom>
          <a:noFill/>
        </p:spPr>
        <p:txBody>
          <a:bodyPr wrap="square" lIns="0" rIns="0" tIns="0" bIns="0" anchor="t">
            <a:spAutoFit/>
          </a:bodyPr>
          <a:lstStyle/>
          <a:p>
            <a:pPr algn="l"/>
            <a:r>
              <a:rPr sz="2000">
                <a:solidFill>
                  <a:srgbClr val="FFFFFF"/>
                </a:solidFill>
                <a:latin typeface="DM Sans"/>
              </a:rPr>
              <a:t>Las claves de Mercado Pago y de Anthropic viven en los Workers, nunca dentro del APK.</a:t>
            </a:r>
          </a:p>
        </p:txBody>
      </p:sp>
      <p:sp>
        <p:nvSpPr>
          <p:cNvPr id="14" name="Viñeta 4"/>
          <p:cNvSpPr/>
          <p:nvPr/>
        </p:nvSpPr>
        <p:spPr>
          <a:xfrm>
            <a:off x="8412480" y="8247887"/>
            <a:ext cx="329184" cy="329184"/>
          </a:xfrm>
          <a:prstGeom prst="ellipse">
            <a:avLst/>
          </a:prstGeom>
          <a:solidFill>
            <a:srgbClr val="FFC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06840" y="8138159"/>
            <a:ext cx="8595360" cy="548640"/>
          </a:xfrm>
          <a:prstGeom prst="rect">
            <a:avLst/>
          </a:prstGeom>
          <a:noFill/>
        </p:spPr>
        <p:txBody>
          <a:bodyPr wrap="square" lIns="0" rIns="0" tIns="0" bIns="0" anchor="t">
            <a:spAutoFit/>
          </a:bodyPr>
          <a:lstStyle/>
          <a:p>
            <a:pPr algn="l"/>
            <a:r>
              <a:rPr sz="2600" b="1">
                <a:solidFill>
                  <a:srgbClr val="FFFFFF"/>
                </a:solidFill>
                <a:latin typeface="DM Sans Bold"/>
              </a:rPr>
              <a:t>Cada pedido trae un token</a:t>
            </a:r>
          </a:p>
        </p:txBody>
      </p:sp>
      <p:sp>
        <p:nvSpPr>
          <p:cNvPr id="16" name="TextBox 15"/>
          <p:cNvSpPr txBox="1"/>
          <p:nvPr/>
        </p:nvSpPr>
        <p:spPr>
          <a:xfrm>
            <a:off x="9006840" y="8732519"/>
            <a:ext cx="8595360" cy="1097280"/>
          </a:xfrm>
          <a:prstGeom prst="rect">
            <a:avLst/>
          </a:prstGeom>
          <a:noFill/>
        </p:spPr>
        <p:txBody>
          <a:bodyPr wrap="square" lIns="0" rIns="0" tIns="0" bIns="0" anchor="t">
            <a:spAutoFit/>
          </a:bodyPr>
          <a:lstStyle/>
          <a:p>
            <a:pPr algn="l"/>
            <a:r>
              <a:rPr sz="2000">
                <a:solidFill>
                  <a:srgbClr val="FFFFFF"/>
                </a:solidFill>
                <a:latin typeface="DM Sans"/>
              </a:rPr>
              <a:t>La API verifica la firma, el emisor y el vencimiento del token de Firebase.</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99032" y="3474720"/>
            <a:ext cx="8686800" cy="2011680"/>
          </a:xfrm>
          <a:prstGeom prst="rect">
            <a:avLst/>
          </a:prstGeom>
          <a:noFill/>
        </p:spPr>
        <p:txBody>
          <a:bodyPr wrap="square" lIns="0" rIns="0" tIns="0" bIns="0" anchor="t">
            <a:spAutoFit/>
          </a:bodyPr>
          <a:lstStyle/>
          <a:p>
            <a:pPr algn="l"/>
            <a:r>
              <a:rPr sz="9500">
                <a:solidFill>
                  <a:srgbClr val="215DF2"/>
                </a:solidFill>
                <a:latin typeface="Calistoga"/>
              </a:rPr>
              <a:t>Desarrollo</a:t>
            </a:r>
          </a:p>
        </p:txBody>
      </p:sp>
      <p:sp>
        <p:nvSpPr>
          <p:cNvPr id="3" name="TextBox 2"/>
          <p:cNvSpPr txBox="1"/>
          <p:nvPr/>
        </p:nvSpPr>
        <p:spPr>
          <a:xfrm>
            <a:off x="1399032" y="5532120"/>
            <a:ext cx="8046720" cy="1463040"/>
          </a:xfrm>
          <a:prstGeom prst="rect">
            <a:avLst/>
          </a:prstGeom>
          <a:noFill/>
        </p:spPr>
        <p:txBody>
          <a:bodyPr wrap="square" lIns="0" rIns="0" tIns="0" bIns="0" anchor="t">
            <a:spAutoFit/>
          </a:bodyPr>
          <a:lstStyle/>
          <a:p>
            <a:pPr algn="l"/>
            <a:r>
              <a:rPr sz="3000" b="1">
                <a:solidFill>
                  <a:srgbClr val="1A1A1A"/>
                </a:solidFill>
                <a:latin typeface="DM Sans Bold"/>
              </a:rPr>
              <a:t>Cómo programamos cada una de las aplicaciones</a:t>
            </a:r>
          </a:p>
        </p:txBody>
      </p:sp>
      <p:pic>
        <p:nvPicPr>
          <p:cNvPr id="4" name="Animación equip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509760" y="2834640"/>
            <a:ext cx="8229600" cy="462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Sistema de empleados</a:t>
            </a:r>
          </a:p>
        </p:txBody>
      </p:sp>
      <p:sp>
        <p:nvSpPr>
          <p:cNvPr id="3" name="TextBox 2"/>
          <p:cNvSpPr txBox="1"/>
          <p:nvPr/>
        </p:nvSpPr>
        <p:spPr>
          <a:xfrm>
            <a:off x="1024128" y="1965960"/>
            <a:ext cx="8229600" cy="640080"/>
          </a:xfrm>
          <a:prstGeom prst="rect">
            <a:avLst/>
          </a:prstGeom>
          <a:noFill/>
        </p:spPr>
        <p:txBody>
          <a:bodyPr wrap="square" lIns="0" rIns="0" tIns="0" bIns="0" anchor="t">
            <a:spAutoFit/>
          </a:bodyPr>
          <a:lstStyle/>
          <a:p>
            <a:pPr algn="l"/>
            <a:r>
              <a:rPr sz="2600">
                <a:solidFill>
                  <a:srgbClr val="5B6170"/>
                </a:solidFill>
                <a:latin typeface="DM Sans"/>
              </a:rPr>
              <a:t>Python 3.12 + Flet · programa de escritorio</a:t>
            </a:r>
          </a:p>
        </p:txBody>
      </p:sp>
      <p:pic>
        <p:nvPicPr>
          <p:cNvPr id="4" name="Animación panel">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692640" y="1463040"/>
            <a:ext cx="7863840" cy="4423409"/>
          </a:xfrm>
          <a:prstGeom prst="rect">
            <a:avLst/>
          </a:prstGeom>
        </p:spPr>
      </p:pic>
      <p:sp>
        <p:nvSpPr>
          <p:cNvPr id="5" name="Oval 4"/>
          <p:cNvSpPr/>
          <p:nvPr/>
        </p:nvSpPr>
        <p:spPr>
          <a:xfrm>
            <a:off x="1024128" y="3108960"/>
            <a:ext cx="914400" cy="91440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a:solidFill>
                  <a:srgbClr val="FFFFFF"/>
                </a:solidFill>
                <a:latin typeface="Calistoga"/>
              </a:rPr>
              <a:t>01</a:t>
            </a:r>
          </a:p>
        </p:txBody>
      </p:sp>
      <p:sp>
        <p:nvSpPr>
          <p:cNvPr id="6" name="TextBox 5"/>
          <p:cNvSpPr txBox="1"/>
          <p:nvPr/>
        </p:nvSpPr>
        <p:spPr>
          <a:xfrm>
            <a:off x="2286000" y="3127248"/>
            <a:ext cx="6949440" cy="640080"/>
          </a:xfrm>
          <a:prstGeom prst="rect">
            <a:avLst/>
          </a:prstGeom>
          <a:noFill/>
        </p:spPr>
        <p:txBody>
          <a:bodyPr wrap="square" lIns="0" rIns="0" tIns="0" bIns="0" anchor="t">
            <a:spAutoFit/>
          </a:bodyPr>
          <a:lstStyle/>
          <a:p>
            <a:pPr algn="l"/>
            <a:r>
              <a:rPr sz="2600" b="1">
                <a:solidFill>
                  <a:srgbClr val="1A1A1A"/>
                </a:solidFill>
                <a:latin typeface="DM Sans Bold"/>
              </a:rPr>
              <a:t>Un menú por rol</a:t>
            </a:r>
          </a:p>
        </p:txBody>
      </p:sp>
      <p:sp>
        <p:nvSpPr>
          <p:cNvPr id="7" name="TextBox 6"/>
          <p:cNvSpPr txBox="1"/>
          <p:nvPr/>
        </p:nvSpPr>
        <p:spPr>
          <a:xfrm>
            <a:off x="2286000" y="3794760"/>
            <a:ext cx="6949440" cy="1371600"/>
          </a:xfrm>
          <a:prstGeom prst="rect">
            <a:avLst/>
          </a:prstGeom>
          <a:noFill/>
        </p:spPr>
        <p:txBody>
          <a:bodyPr wrap="square" lIns="0" rIns="0" tIns="0" bIns="0" anchor="t">
            <a:spAutoFit/>
          </a:bodyPr>
          <a:lstStyle/>
          <a:p>
            <a:pPr algn="l"/>
            <a:r>
              <a:rPr sz="2100">
                <a:solidFill>
                  <a:srgbClr val="1A1A1A"/>
                </a:solidFill>
                <a:latin typeface="DM Sans"/>
              </a:rPr>
              <a:t>Dueño, recepción y entrenador ven solo sus secciones. Si se intenta abrir otra, el sistema lo bloquea.</a:t>
            </a:r>
          </a:p>
        </p:txBody>
      </p:sp>
      <p:sp>
        <p:nvSpPr>
          <p:cNvPr id="8" name="Oval 7"/>
          <p:cNvSpPr/>
          <p:nvPr/>
        </p:nvSpPr>
        <p:spPr>
          <a:xfrm>
            <a:off x="1024128" y="5257800"/>
            <a:ext cx="914400" cy="91440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a:solidFill>
                  <a:srgbClr val="FFFFFF"/>
                </a:solidFill>
                <a:latin typeface="Calistoga"/>
              </a:rPr>
              <a:t>02</a:t>
            </a:r>
          </a:p>
        </p:txBody>
      </p:sp>
      <p:sp>
        <p:nvSpPr>
          <p:cNvPr id="9" name="TextBox 8"/>
          <p:cNvSpPr txBox="1"/>
          <p:nvPr/>
        </p:nvSpPr>
        <p:spPr>
          <a:xfrm>
            <a:off x="2286000" y="5276088"/>
            <a:ext cx="6949440" cy="640080"/>
          </a:xfrm>
          <a:prstGeom prst="rect">
            <a:avLst/>
          </a:prstGeom>
          <a:noFill/>
        </p:spPr>
        <p:txBody>
          <a:bodyPr wrap="square" lIns="0" rIns="0" tIns="0" bIns="0" anchor="t">
            <a:spAutoFit/>
          </a:bodyPr>
          <a:lstStyle/>
          <a:p>
            <a:pPr algn="l"/>
            <a:r>
              <a:rPr sz="2600" b="1">
                <a:solidFill>
                  <a:srgbClr val="1A1A1A"/>
                </a:solidFill>
                <a:latin typeface="DM Sans Bold"/>
              </a:rPr>
              <a:t>Pantallas separadas de los datos</a:t>
            </a:r>
          </a:p>
        </p:txBody>
      </p:sp>
      <p:sp>
        <p:nvSpPr>
          <p:cNvPr id="10" name="TextBox 9"/>
          <p:cNvSpPr txBox="1"/>
          <p:nvPr/>
        </p:nvSpPr>
        <p:spPr>
          <a:xfrm>
            <a:off x="2286000" y="5943600"/>
            <a:ext cx="6949440" cy="1371600"/>
          </a:xfrm>
          <a:prstGeom prst="rect">
            <a:avLst/>
          </a:prstGeom>
          <a:noFill/>
        </p:spPr>
        <p:txBody>
          <a:bodyPr wrap="square" lIns="0" rIns="0" tIns="0" bIns="0" anchor="t">
            <a:spAutoFit/>
          </a:bodyPr>
          <a:lstStyle/>
          <a:p>
            <a:pPr algn="l"/>
            <a:r>
              <a:rPr sz="2100">
                <a:solidFill>
                  <a:srgbClr val="1A1A1A"/>
                </a:solidFill>
                <a:latin typeface="DM Sans"/>
              </a:rPr>
              <a:t>22 vistas para la interfaz y 21 módulos _repo con el SQL. Cambiar una consulta no rompe una pantalla.</a:t>
            </a:r>
          </a:p>
        </p:txBody>
      </p:sp>
      <p:sp>
        <p:nvSpPr>
          <p:cNvPr id="11" name="Oval 10"/>
          <p:cNvSpPr/>
          <p:nvPr/>
        </p:nvSpPr>
        <p:spPr>
          <a:xfrm>
            <a:off x="1024128" y="7406640"/>
            <a:ext cx="914400" cy="91440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a:solidFill>
                  <a:srgbClr val="FFFFFF"/>
                </a:solidFill>
                <a:latin typeface="Calistoga"/>
              </a:rPr>
              <a:t>03</a:t>
            </a:r>
          </a:p>
        </p:txBody>
      </p:sp>
      <p:sp>
        <p:nvSpPr>
          <p:cNvPr id="12" name="TextBox 11"/>
          <p:cNvSpPr txBox="1"/>
          <p:nvPr/>
        </p:nvSpPr>
        <p:spPr>
          <a:xfrm>
            <a:off x="2286000" y="7424927"/>
            <a:ext cx="6949440" cy="640080"/>
          </a:xfrm>
          <a:prstGeom prst="rect">
            <a:avLst/>
          </a:prstGeom>
          <a:noFill/>
        </p:spPr>
        <p:txBody>
          <a:bodyPr wrap="square" lIns="0" rIns="0" tIns="0" bIns="0" anchor="t">
            <a:spAutoFit/>
          </a:bodyPr>
          <a:lstStyle/>
          <a:p>
            <a:pPr algn="l"/>
            <a:r>
              <a:rPr sz="2600" b="1">
                <a:solidFill>
                  <a:srgbClr val="1A1A1A"/>
                </a:solidFill>
                <a:latin typeface="DM Sans Bold"/>
              </a:rPr>
              <a:t>Sin congelar la pantalla</a:t>
            </a:r>
          </a:p>
        </p:txBody>
      </p:sp>
      <p:sp>
        <p:nvSpPr>
          <p:cNvPr id="13" name="TextBox 12"/>
          <p:cNvSpPr txBox="1"/>
          <p:nvPr/>
        </p:nvSpPr>
        <p:spPr>
          <a:xfrm>
            <a:off x="2286000" y="8092440"/>
            <a:ext cx="6949440" cy="1371600"/>
          </a:xfrm>
          <a:prstGeom prst="rect">
            <a:avLst/>
          </a:prstGeom>
          <a:noFill/>
        </p:spPr>
        <p:txBody>
          <a:bodyPr wrap="square" lIns="0" rIns="0" tIns="0" bIns="0" anchor="t">
            <a:spAutoFit/>
          </a:bodyPr>
          <a:lstStyle/>
          <a:p>
            <a:pPr algn="l"/>
            <a:r>
              <a:rPr sz="2100">
                <a:solidFill>
                  <a:srgbClr val="1A1A1A"/>
                </a:solidFill>
                <a:latin typeface="DM Sans"/>
              </a:rPr>
              <a:t>Las tareas lentas (como refrescar el QR cada segundo) corren en hilos aparte.</a:t>
            </a:r>
          </a:p>
        </p:txBody>
      </p:sp>
      <p:sp>
        <p:nvSpPr>
          <p:cNvPr id="14" name="TextBox 13"/>
          <p:cNvSpPr txBox="1"/>
          <p:nvPr/>
        </p:nvSpPr>
        <p:spPr>
          <a:xfrm>
            <a:off x="9692640" y="6400800"/>
            <a:ext cx="7863840" cy="2743200"/>
          </a:xfrm>
          <a:prstGeom prst="rect">
            <a:avLst/>
          </a:prstGeom>
          <a:noFill/>
        </p:spPr>
        <p:txBody>
          <a:bodyPr wrap="square" lIns="0" rIns="0" tIns="0" bIns="0" anchor="t">
            <a:spAutoFit/>
          </a:bodyPr>
          <a:lstStyle/>
          <a:p>
            <a:pPr algn="l"/>
            <a:r>
              <a:rPr sz="2100" b="1">
                <a:solidFill>
                  <a:srgbClr val="1A1A1A"/>
                </a:solidFill>
                <a:latin typeface="DM Sans Bold"/>
              </a:rPr>
              <a:t>Secciones: </a:t>
            </a:r>
            <a:r>
              <a:rPr sz="2100">
                <a:solidFill>
                  <a:srgbClr val="1A1A1A"/>
                </a:solidFill>
                <a:latin typeface="DM Sans"/>
              </a:rPr>
              <a:t>socios, membresías, pagos, clases, rutinas, dietas, personal, QR de ingreso, NutriStore y más.</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La API en Cloudflare Workers</a:t>
            </a:r>
          </a:p>
        </p:txBody>
      </p:sp>
      <p:sp>
        <p:nvSpPr>
          <p:cNvPr id="3" name="TextBox 2"/>
          <p:cNvSpPr txBox="1"/>
          <p:nvPr/>
        </p:nvSpPr>
        <p:spPr>
          <a:xfrm>
            <a:off x="1024128" y="1965960"/>
            <a:ext cx="8229600" cy="1097280"/>
          </a:xfrm>
          <a:prstGeom prst="rect">
            <a:avLst/>
          </a:prstGeom>
          <a:noFill/>
        </p:spPr>
        <p:txBody>
          <a:bodyPr wrap="square" lIns="0" rIns="0" tIns="0" bIns="0" anchor="t">
            <a:spAutoFit/>
          </a:bodyPr>
          <a:lstStyle/>
          <a:p>
            <a:pPr algn="l"/>
            <a:r>
              <a:rPr sz="2400">
                <a:solidFill>
                  <a:srgbClr val="5B6170"/>
                </a:solidFill>
                <a:latin typeface="DM Sans"/>
              </a:rPr>
              <a:t>TypeScript · se ejecuta en la nube, cerca del usuario, sin un servidor que mantener</a:t>
            </a:r>
          </a:p>
        </p:txBody>
      </p:sp>
      <p:pic>
        <p:nvPicPr>
          <p:cNvPr id="4" name="Animación api">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0424160" y="2148840"/>
            <a:ext cx="6949440" cy="3909059"/>
          </a:xfrm>
          <a:prstGeom prst="rect">
            <a:avLst/>
          </a:prstGeom>
        </p:spPr>
      </p:pic>
      <p:sp>
        <p:nvSpPr>
          <p:cNvPr id="5" name="Worker API del club"/>
          <p:cNvSpPr/>
          <p:nvPr/>
        </p:nvSpPr>
        <p:spPr>
          <a:xfrm>
            <a:off x="1024128" y="6263640"/>
            <a:ext cx="5166360" cy="3108960"/>
          </a:xfrm>
          <a:prstGeom prst="roundRect">
            <a:avLst>
              <a:gd name="adj" fmla="val 8000"/>
            </a:avLst>
          </a:prstGeom>
          <a:solidFill>
            <a:srgbClr val="215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89888" y="6537960"/>
            <a:ext cx="4480560" cy="640080"/>
          </a:xfrm>
          <a:prstGeom prst="rect">
            <a:avLst/>
          </a:prstGeom>
          <a:noFill/>
        </p:spPr>
        <p:txBody>
          <a:bodyPr wrap="square" lIns="0" rIns="0" tIns="0" bIns="0" anchor="t">
            <a:spAutoFit/>
          </a:bodyPr>
          <a:lstStyle/>
          <a:p>
            <a:pPr algn="l"/>
            <a:r>
              <a:rPr sz="2700">
                <a:solidFill>
                  <a:srgbClr val="FFFFFF"/>
                </a:solidFill>
                <a:latin typeface="Calistoga"/>
              </a:rPr>
              <a:t>API del club</a:t>
            </a:r>
          </a:p>
        </p:txBody>
      </p:sp>
      <p:sp>
        <p:nvSpPr>
          <p:cNvPr id="7" name="TextBox 6"/>
          <p:cNvSpPr txBox="1"/>
          <p:nvPr/>
        </p:nvSpPr>
        <p:spPr>
          <a:xfrm>
            <a:off x="1389888" y="7315200"/>
            <a:ext cx="4480560" cy="1920240"/>
          </a:xfrm>
          <a:prstGeom prst="rect">
            <a:avLst/>
          </a:prstGeom>
          <a:noFill/>
        </p:spPr>
        <p:txBody>
          <a:bodyPr wrap="square" lIns="0" rIns="0" tIns="0" bIns="0" anchor="t">
            <a:spAutoFit/>
          </a:bodyPr>
          <a:lstStyle/>
          <a:p>
            <a:pPr algn="l"/>
            <a:r>
              <a:rPr sz="2000">
                <a:solidFill>
                  <a:srgbClr val="FFFFFF"/>
                </a:solidFill>
                <a:latin typeface="DM Sans"/>
              </a:rPr>
              <a:t>Rutinas, dietas, clases, tienda, planes e ingreso. Todo bajo /v1/.</a:t>
            </a:r>
          </a:p>
        </p:txBody>
      </p:sp>
      <p:sp>
        <p:nvSpPr>
          <p:cNvPr id="8" name="Worker Pagos"/>
          <p:cNvSpPr/>
          <p:nvPr/>
        </p:nvSpPr>
        <p:spPr>
          <a:xfrm>
            <a:off x="6556248" y="6263640"/>
            <a:ext cx="5166360" cy="3108960"/>
          </a:xfrm>
          <a:prstGeom prst="roundRect">
            <a:avLst>
              <a:gd name="adj" fmla="val 8000"/>
            </a:avLst>
          </a:prstGeom>
          <a:solidFill>
            <a:srgbClr val="EA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22008" y="6537960"/>
            <a:ext cx="4480560" cy="640080"/>
          </a:xfrm>
          <a:prstGeom prst="rect">
            <a:avLst/>
          </a:prstGeom>
          <a:noFill/>
        </p:spPr>
        <p:txBody>
          <a:bodyPr wrap="square" lIns="0" rIns="0" tIns="0" bIns="0" anchor="t">
            <a:spAutoFit/>
          </a:bodyPr>
          <a:lstStyle/>
          <a:p>
            <a:pPr algn="l"/>
            <a:r>
              <a:rPr sz="2700">
                <a:solidFill>
                  <a:srgbClr val="215DF2"/>
                </a:solidFill>
                <a:latin typeface="Calistoga"/>
              </a:rPr>
              <a:t>Pagos</a:t>
            </a:r>
          </a:p>
        </p:txBody>
      </p:sp>
      <p:sp>
        <p:nvSpPr>
          <p:cNvPr id="10" name="TextBox 9"/>
          <p:cNvSpPr txBox="1"/>
          <p:nvPr/>
        </p:nvSpPr>
        <p:spPr>
          <a:xfrm>
            <a:off x="6922008" y="7315200"/>
            <a:ext cx="4480560" cy="1920240"/>
          </a:xfrm>
          <a:prstGeom prst="rect">
            <a:avLst/>
          </a:prstGeom>
          <a:noFill/>
        </p:spPr>
        <p:txBody>
          <a:bodyPr wrap="square" lIns="0" rIns="0" tIns="0" bIns="0" anchor="t">
            <a:spAutoFit/>
          </a:bodyPr>
          <a:lstStyle/>
          <a:p>
            <a:pPr algn="l"/>
            <a:r>
              <a:rPr sz="2000">
                <a:solidFill>
                  <a:srgbClr val="1A1A1A"/>
                </a:solidFill>
                <a:latin typeface="DM Sans"/>
              </a:rPr>
              <a:t>Arma el cobro en Mercado Pago y activa la membresía solo cuando el pago está aprobado.</a:t>
            </a:r>
          </a:p>
        </p:txBody>
      </p:sp>
      <p:sp>
        <p:nvSpPr>
          <p:cNvPr id="11" name="Worker Argos"/>
          <p:cNvSpPr/>
          <p:nvPr/>
        </p:nvSpPr>
        <p:spPr>
          <a:xfrm>
            <a:off x="12088367" y="6263640"/>
            <a:ext cx="5166360" cy="3108960"/>
          </a:xfrm>
          <a:prstGeom prst="roundRect">
            <a:avLst>
              <a:gd name="adj" fmla="val 8000"/>
            </a:avLst>
          </a:prstGeom>
          <a:solidFill>
            <a:srgbClr val="EA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54128" y="6537960"/>
            <a:ext cx="4480560" cy="640080"/>
          </a:xfrm>
          <a:prstGeom prst="rect">
            <a:avLst/>
          </a:prstGeom>
          <a:noFill/>
        </p:spPr>
        <p:txBody>
          <a:bodyPr wrap="square" lIns="0" rIns="0" tIns="0" bIns="0" anchor="t">
            <a:spAutoFit/>
          </a:bodyPr>
          <a:lstStyle/>
          <a:p>
            <a:pPr algn="l"/>
            <a:r>
              <a:rPr sz="2700">
                <a:solidFill>
                  <a:srgbClr val="215DF2"/>
                </a:solidFill>
                <a:latin typeface="Calistoga"/>
              </a:rPr>
              <a:t>Argos</a:t>
            </a:r>
          </a:p>
        </p:txBody>
      </p:sp>
      <p:sp>
        <p:nvSpPr>
          <p:cNvPr id="13" name="TextBox 12"/>
          <p:cNvSpPr txBox="1"/>
          <p:nvPr/>
        </p:nvSpPr>
        <p:spPr>
          <a:xfrm>
            <a:off x="12454128" y="7315200"/>
            <a:ext cx="4480560" cy="1920240"/>
          </a:xfrm>
          <a:prstGeom prst="rect">
            <a:avLst/>
          </a:prstGeom>
          <a:noFill/>
        </p:spPr>
        <p:txBody>
          <a:bodyPr wrap="square" lIns="0" rIns="0" tIns="0" bIns="0" anchor="t">
            <a:spAutoFit/>
          </a:bodyPr>
          <a:lstStyle/>
          <a:p>
            <a:pPr algn="l"/>
            <a:r>
              <a:rPr sz="2000">
                <a:solidFill>
                  <a:srgbClr val="1A1A1A"/>
                </a:solidFill>
                <a:latin typeface="DM Sans"/>
              </a:rPr>
              <a:t>Habla con la IA de Anthropic y controla el cupo diario de mensajes de cada socio.</a:t>
            </a:r>
          </a:p>
        </p:txBody>
      </p:sp>
      <p:sp>
        <p:nvSpPr>
          <p:cNvPr id="14" name="Viñeta 1"/>
          <p:cNvSpPr/>
          <p:nvPr/>
        </p:nvSpPr>
        <p:spPr>
          <a:xfrm>
            <a:off x="1024128" y="3364991"/>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09928" y="3246120"/>
            <a:ext cx="7543800" cy="868680"/>
          </a:xfrm>
          <a:prstGeom prst="rect">
            <a:avLst/>
          </a:prstGeom>
          <a:noFill/>
        </p:spPr>
        <p:txBody>
          <a:bodyPr wrap="square" lIns="0" rIns="0" tIns="0" bIns="0" anchor="t">
            <a:spAutoFit/>
          </a:bodyPr>
          <a:lstStyle/>
          <a:p>
            <a:pPr algn="l"/>
            <a:r>
              <a:rPr sz="2200">
                <a:solidFill>
                  <a:srgbClr val="1A1A1A"/>
                </a:solidFill>
                <a:latin typeface="DM Sans"/>
              </a:rPr>
              <a:t>Verifica el token de cada socio</a:t>
            </a:r>
          </a:p>
        </p:txBody>
      </p:sp>
      <p:sp>
        <p:nvSpPr>
          <p:cNvPr id="16" name="Viñeta 2"/>
          <p:cNvSpPr/>
          <p:nvPr/>
        </p:nvSpPr>
        <p:spPr>
          <a:xfrm>
            <a:off x="1024128" y="4233672"/>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09928" y="4114800"/>
            <a:ext cx="7543800" cy="868680"/>
          </a:xfrm>
          <a:prstGeom prst="rect">
            <a:avLst/>
          </a:prstGeom>
          <a:noFill/>
        </p:spPr>
        <p:txBody>
          <a:bodyPr wrap="square" lIns="0" rIns="0" tIns="0" bIns="0" anchor="t">
            <a:spAutoFit/>
          </a:bodyPr>
          <a:lstStyle/>
          <a:p>
            <a:pPr algn="l"/>
            <a:r>
              <a:rPr sz="2200">
                <a:solidFill>
                  <a:srgbClr val="1A1A1A"/>
                </a:solidFill>
                <a:latin typeface="DM Sans"/>
              </a:rPr>
              <a:t>Consulta la base con el driver serverless de Neon</a:t>
            </a:r>
          </a:p>
        </p:txBody>
      </p:sp>
      <p:sp>
        <p:nvSpPr>
          <p:cNvPr id="18" name="Viñeta 3"/>
          <p:cNvSpPr/>
          <p:nvPr/>
        </p:nvSpPr>
        <p:spPr>
          <a:xfrm>
            <a:off x="1024128" y="5102351"/>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9928" y="4983479"/>
            <a:ext cx="7543800" cy="868680"/>
          </a:xfrm>
          <a:prstGeom prst="rect">
            <a:avLst/>
          </a:prstGeom>
          <a:noFill/>
        </p:spPr>
        <p:txBody>
          <a:bodyPr wrap="square" lIns="0" rIns="0" tIns="0" bIns="0" anchor="t">
            <a:spAutoFit/>
          </a:bodyPr>
          <a:lstStyle/>
          <a:p>
            <a:pPr algn="l"/>
            <a:r>
              <a:rPr sz="2200">
                <a:solidFill>
                  <a:srgbClr val="1A1A1A"/>
                </a:solidFill>
                <a:latin typeface="DM Sans"/>
              </a:rPr>
              <a:t>Nunca confía en precios o datos que mande la app</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App de los socios</a:t>
            </a:r>
          </a:p>
        </p:txBody>
      </p:sp>
      <p:sp>
        <p:nvSpPr>
          <p:cNvPr id="3" name="TextBox 2"/>
          <p:cNvSpPr txBox="1"/>
          <p:nvPr/>
        </p:nvSpPr>
        <p:spPr>
          <a:xfrm>
            <a:off x="1024128" y="1965960"/>
            <a:ext cx="8229600" cy="640080"/>
          </a:xfrm>
          <a:prstGeom prst="rect">
            <a:avLst/>
          </a:prstGeom>
          <a:noFill/>
        </p:spPr>
        <p:txBody>
          <a:bodyPr wrap="square" lIns="0" rIns="0" tIns="0" bIns="0" anchor="t">
            <a:spAutoFit/>
          </a:bodyPr>
          <a:lstStyle/>
          <a:p>
            <a:pPr algn="l"/>
            <a:r>
              <a:rPr sz="2600">
                <a:solidFill>
                  <a:srgbClr val="5B6170"/>
                </a:solidFill>
                <a:latin typeface="DM Sans"/>
              </a:rPr>
              <a:t>Kotlin + Jetpack Compose · Android</a:t>
            </a:r>
          </a:p>
        </p:txBody>
      </p:sp>
      <p:pic>
        <p:nvPicPr>
          <p:cNvPr id="4" name="Animación login">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8640" y="3017520"/>
            <a:ext cx="8595360" cy="4834890"/>
          </a:xfrm>
          <a:prstGeom prst="rect">
            <a:avLst/>
          </a:prstGeom>
        </p:spPr>
      </p:pic>
      <p:sp>
        <p:nvSpPr>
          <p:cNvPr id="5" name="Panel"/>
          <p:cNvSpPr/>
          <p:nvPr/>
        </p:nvSpPr>
        <p:spPr>
          <a:xfrm>
            <a:off x="9692640" y="0"/>
            <a:ext cx="8595360" cy="10287000"/>
          </a:xfrm>
          <a:prstGeom prst="rect">
            <a:avLst/>
          </a:prstGeom>
          <a:solidFill>
            <a:srgbClr val="215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1188720"/>
            <a:ext cx="6949440" cy="1188720"/>
          </a:xfrm>
          <a:prstGeom prst="rect">
            <a:avLst/>
          </a:prstGeom>
          <a:noFill/>
        </p:spPr>
        <p:txBody>
          <a:bodyPr wrap="square" lIns="0" rIns="0" tIns="0" bIns="0" anchor="t">
            <a:spAutoFit/>
          </a:bodyPr>
          <a:lstStyle/>
          <a:p>
            <a:pPr algn="l"/>
            <a:r>
              <a:rPr sz="6600">
                <a:solidFill>
                  <a:srgbClr val="FFFFFF"/>
                </a:solidFill>
                <a:latin typeface="Calistoga"/>
              </a:rPr>
              <a:t>39</a:t>
            </a:r>
          </a:p>
        </p:txBody>
      </p:sp>
      <p:sp>
        <p:nvSpPr>
          <p:cNvPr id="7" name="TextBox 6"/>
          <p:cNvSpPr txBox="1"/>
          <p:nvPr/>
        </p:nvSpPr>
        <p:spPr>
          <a:xfrm>
            <a:off x="10515600" y="2377440"/>
            <a:ext cx="6949440" cy="548640"/>
          </a:xfrm>
          <a:prstGeom prst="rect">
            <a:avLst/>
          </a:prstGeom>
          <a:noFill/>
        </p:spPr>
        <p:txBody>
          <a:bodyPr wrap="square" lIns="0" rIns="0" tIns="0" bIns="0" anchor="t">
            <a:spAutoFit/>
          </a:bodyPr>
          <a:lstStyle/>
          <a:p>
            <a:pPr algn="l"/>
            <a:r>
              <a:rPr sz="2400" b="1">
                <a:solidFill>
                  <a:srgbClr val="FFFFFF"/>
                </a:solidFill>
                <a:latin typeface="DM Sans Bold"/>
              </a:rPr>
              <a:t>pantallas hechas con Compose</a:t>
            </a:r>
          </a:p>
        </p:txBody>
      </p:sp>
      <p:sp>
        <p:nvSpPr>
          <p:cNvPr id="8" name="TextBox 7"/>
          <p:cNvSpPr txBox="1"/>
          <p:nvPr/>
        </p:nvSpPr>
        <p:spPr>
          <a:xfrm>
            <a:off x="10515600" y="3337560"/>
            <a:ext cx="6949440" cy="1188720"/>
          </a:xfrm>
          <a:prstGeom prst="rect">
            <a:avLst/>
          </a:prstGeom>
          <a:noFill/>
        </p:spPr>
        <p:txBody>
          <a:bodyPr wrap="square" lIns="0" rIns="0" tIns="0" bIns="0" anchor="t">
            <a:spAutoFit/>
          </a:bodyPr>
          <a:lstStyle/>
          <a:p>
            <a:pPr algn="l"/>
            <a:r>
              <a:rPr sz="6600">
                <a:solidFill>
                  <a:srgbClr val="FFFFFF"/>
                </a:solidFill>
                <a:latin typeface="Calistoga"/>
              </a:rPr>
              <a:t>4,6 MB</a:t>
            </a:r>
          </a:p>
        </p:txBody>
      </p:sp>
      <p:sp>
        <p:nvSpPr>
          <p:cNvPr id="9" name="TextBox 8"/>
          <p:cNvSpPr txBox="1"/>
          <p:nvPr/>
        </p:nvSpPr>
        <p:spPr>
          <a:xfrm>
            <a:off x="10515600" y="4526280"/>
            <a:ext cx="6949440" cy="548640"/>
          </a:xfrm>
          <a:prstGeom prst="rect">
            <a:avLst/>
          </a:prstGeom>
          <a:noFill/>
        </p:spPr>
        <p:txBody>
          <a:bodyPr wrap="square" lIns="0" rIns="0" tIns="0" bIns="0" anchor="t">
            <a:spAutoFit/>
          </a:bodyPr>
          <a:lstStyle/>
          <a:p>
            <a:pPr algn="l"/>
            <a:r>
              <a:rPr sz="2400" b="1">
                <a:solidFill>
                  <a:srgbClr val="FFFFFF"/>
                </a:solidFill>
                <a:latin typeface="DM Sans Bold"/>
              </a:rPr>
              <a:t>pesa el APK optimizado</a:t>
            </a:r>
          </a:p>
        </p:txBody>
      </p:sp>
      <p:sp>
        <p:nvSpPr>
          <p:cNvPr id="10" name="TextBox 9"/>
          <p:cNvSpPr txBox="1"/>
          <p:nvPr/>
        </p:nvSpPr>
        <p:spPr>
          <a:xfrm>
            <a:off x="10515600" y="5486400"/>
            <a:ext cx="6949440" cy="1188720"/>
          </a:xfrm>
          <a:prstGeom prst="rect">
            <a:avLst/>
          </a:prstGeom>
          <a:noFill/>
        </p:spPr>
        <p:txBody>
          <a:bodyPr wrap="square" lIns="0" rIns="0" tIns="0" bIns="0" anchor="t">
            <a:spAutoFit/>
          </a:bodyPr>
          <a:lstStyle/>
          <a:p>
            <a:pPr algn="l"/>
            <a:r>
              <a:rPr sz="6600">
                <a:solidFill>
                  <a:srgbClr val="FFFFFF"/>
                </a:solidFill>
                <a:latin typeface="Calistoga"/>
              </a:rPr>
              <a:t>0</a:t>
            </a:r>
          </a:p>
        </p:txBody>
      </p:sp>
      <p:sp>
        <p:nvSpPr>
          <p:cNvPr id="11" name="TextBox 10"/>
          <p:cNvSpPr txBox="1"/>
          <p:nvPr/>
        </p:nvSpPr>
        <p:spPr>
          <a:xfrm>
            <a:off x="10515600" y="6675120"/>
            <a:ext cx="6949440" cy="548640"/>
          </a:xfrm>
          <a:prstGeom prst="rect">
            <a:avLst/>
          </a:prstGeom>
          <a:noFill/>
        </p:spPr>
        <p:txBody>
          <a:bodyPr wrap="square" lIns="0" rIns="0" tIns="0" bIns="0" anchor="t">
            <a:spAutoFit/>
          </a:bodyPr>
          <a:lstStyle/>
          <a:p>
            <a:pPr algn="l"/>
            <a:r>
              <a:rPr sz="2400" b="1">
                <a:solidFill>
                  <a:srgbClr val="FFFFFF"/>
                </a:solidFill>
                <a:latin typeface="DM Sans Bold"/>
              </a:rPr>
              <a:t>claves secretas dentro del APK</a:t>
            </a:r>
          </a:p>
        </p:txBody>
      </p:sp>
      <p:sp>
        <p:nvSpPr>
          <p:cNvPr id="12" name="TextBox 11"/>
          <p:cNvSpPr txBox="1"/>
          <p:nvPr/>
        </p:nvSpPr>
        <p:spPr>
          <a:xfrm>
            <a:off x="10515600" y="7818120"/>
            <a:ext cx="6949440" cy="1828800"/>
          </a:xfrm>
          <a:prstGeom prst="rect">
            <a:avLst/>
          </a:prstGeom>
          <a:noFill/>
        </p:spPr>
        <p:txBody>
          <a:bodyPr wrap="square" lIns="0" rIns="0" tIns="0" bIns="0" anchor="t">
            <a:spAutoFit/>
          </a:bodyPr>
          <a:lstStyle/>
          <a:p>
            <a:pPr algn="l"/>
            <a:r>
              <a:rPr sz="2100">
                <a:solidFill>
                  <a:srgbClr val="FFFFFF"/>
                </a:solidFill>
                <a:latin typeface="DM Sans"/>
              </a:rPr>
              <a:t>Rutinas, clases, Arena, NutriStore, Argos y el pago de la membresía: todo lo pide a la API con el token del socio.</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9601200" cy="1188720"/>
          </a:xfrm>
          <a:prstGeom prst="rect">
            <a:avLst/>
          </a:prstGeom>
          <a:noFill/>
        </p:spPr>
        <p:txBody>
          <a:bodyPr wrap="square" lIns="0" rIns="0" tIns="0" bIns="0" anchor="t">
            <a:spAutoFit/>
          </a:bodyPr>
          <a:lstStyle/>
          <a:p>
            <a:pPr algn="l"/>
            <a:r>
              <a:rPr sz="5600">
                <a:solidFill>
                  <a:srgbClr val="215DF2"/>
                </a:solidFill>
                <a:latin typeface="Calistoga"/>
              </a:rPr>
              <a:t>Ingreso al gimnasio con QR</a:t>
            </a:r>
          </a:p>
        </p:txBody>
      </p:sp>
      <p:sp>
        <p:nvSpPr>
          <p:cNvPr id="3" name="TextBox 2"/>
          <p:cNvSpPr txBox="1"/>
          <p:nvPr/>
        </p:nvSpPr>
        <p:spPr>
          <a:xfrm>
            <a:off x="1024128" y="2103120"/>
            <a:ext cx="8595360" cy="1188720"/>
          </a:xfrm>
          <a:prstGeom prst="rect">
            <a:avLst/>
          </a:prstGeom>
          <a:noFill/>
        </p:spPr>
        <p:txBody>
          <a:bodyPr wrap="square" lIns="0" rIns="0" tIns="0" bIns="0" anchor="t">
            <a:spAutoFit/>
          </a:bodyPr>
          <a:lstStyle/>
          <a:p>
            <a:pPr algn="l"/>
            <a:r>
              <a:rPr sz="2400">
                <a:solidFill>
                  <a:srgbClr val="5B6170"/>
                </a:solidFill>
                <a:latin typeface="DM Sans"/>
              </a:rPr>
              <a:t>Un código que cambia cada 30 segundos, así no sirve sacarle una foto y usarla otro día</a:t>
            </a:r>
          </a:p>
        </p:txBody>
      </p:sp>
      <p:pic>
        <p:nvPicPr>
          <p:cNvPr id="4" name="Animación qr">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0058400" y="411480"/>
            <a:ext cx="7589520" cy="4269105"/>
          </a:xfrm>
          <a:prstGeom prst="rect">
            <a:avLst/>
          </a:prstGeom>
        </p:spPr>
      </p:pic>
      <p:sp>
        <p:nvSpPr>
          <p:cNvPr id="5" name="Banda"/>
          <p:cNvSpPr/>
          <p:nvPr/>
        </p:nvSpPr>
        <p:spPr>
          <a:xfrm>
            <a:off x="0" y="4846320"/>
            <a:ext cx="18288000" cy="5440680"/>
          </a:xfrm>
          <a:prstGeom prst="rect">
            <a:avLst/>
          </a:prstGeom>
          <a:solidFill>
            <a:srgbClr val="215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297680"/>
            <a:ext cx="1097280" cy="10972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01</a:t>
            </a:r>
          </a:p>
        </p:txBody>
      </p:sp>
      <p:sp>
        <p:nvSpPr>
          <p:cNvPr id="7" name="TextBox 6"/>
          <p:cNvSpPr txBox="1"/>
          <p:nvPr/>
        </p:nvSpPr>
        <p:spPr>
          <a:xfrm>
            <a:off x="1024128" y="5806440"/>
            <a:ext cx="5029200" cy="1188720"/>
          </a:xfrm>
          <a:prstGeom prst="rect">
            <a:avLst/>
          </a:prstGeom>
          <a:noFill/>
        </p:spPr>
        <p:txBody>
          <a:bodyPr wrap="square" lIns="0" rIns="0" tIns="0" bIns="0" anchor="t">
            <a:spAutoFit/>
          </a:bodyPr>
          <a:lstStyle/>
          <a:p>
            <a:pPr algn="l"/>
            <a:r>
              <a:rPr sz="2600" b="1">
                <a:solidFill>
                  <a:srgbClr val="FFFFFF"/>
                </a:solidFill>
                <a:latin typeface="DM Sans Bold"/>
              </a:rPr>
              <a:t>Recepción muestra el QR</a:t>
            </a:r>
          </a:p>
        </p:txBody>
      </p:sp>
      <p:sp>
        <p:nvSpPr>
          <p:cNvPr id="8" name="TextBox 7"/>
          <p:cNvSpPr txBox="1"/>
          <p:nvPr/>
        </p:nvSpPr>
        <p:spPr>
          <a:xfrm>
            <a:off x="1024128" y="6583680"/>
            <a:ext cx="5029200" cy="2560320"/>
          </a:xfrm>
          <a:prstGeom prst="rect">
            <a:avLst/>
          </a:prstGeom>
          <a:noFill/>
        </p:spPr>
        <p:txBody>
          <a:bodyPr wrap="square" lIns="0" rIns="0" tIns="0" bIns="0" anchor="t">
            <a:spAutoFit/>
          </a:bodyPr>
          <a:lstStyle/>
          <a:p>
            <a:pPr algn="l"/>
            <a:r>
              <a:rPr sz="2100">
                <a:solidFill>
                  <a:srgbClr val="FFFFFF"/>
                </a:solidFill>
                <a:latin typeface="DM Sans"/>
              </a:rPr>
              <a:t>El sistema genera el código con HMAC-SHA256 y una clave secreta guardada en la base.</a:t>
            </a:r>
          </a:p>
        </p:txBody>
      </p:sp>
      <p:sp>
        <p:nvSpPr>
          <p:cNvPr id="9" name="Oval 8"/>
          <p:cNvSpPr/>
          <p:nvPr/>
        </p:nvSpPr>
        <p:spPr>
          <a:xfrm>
            <a:off x="6739128" y="4297680"/>
            <a:ext cx="1097280" cy="10972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02</a:t>
            </a:r>
          </a:p>
        </p:txBody>
      </p:sp>
      <p:sp>
        <p:nvSpPr>
          <p:cNvPr id="10" name="TextBox 9"/>
          <p:cNvSpPr txBox="1"/>
          <p:nvPr/>
        </p:nvSpPr>
        <p:spPr>
          <a:xfrm>
            <a:off x="6739128" y="5806440"/>
            <a:ext cx="5029200" cy="1188720"/>
          </a:xfrm>
          <a:prstGeom prst="rect">
            <a:avLst/>
          </a:prstGeom>
          <a:noFill/>
        </p:spPr>
        <p:txBody>
          <a:bodyPr wrap="square" lIns="0" rIns="0" tIns="0" bIns="0" anchor="t">
            <a:spAutoFit/>
          </a:bodyPr>
          <a:lstStyle/>
          <a:p>
            <a:pPr algn="l"/>
            <a:r>
              <a:rPr sz="2600" b="1">
                <a:solidFill>
                  <a:srgbClr val="FFFFFF"/>
                </a:solidFill>
                <a:latin typeface="DM Sans Bold"/>
              </a:rPr>
              <a:t>El socio lo escanea</a:t>
            </a:r>
          </a:p>
        </p:txBody>
      </p:sp>
      <p:sp>
        <p:nvSpPr>
          <p:cNvPr id="11" name="TextBox 10"/>
          <p:cNvSpPr txBox="1"/>
          <p:nvPr/>
        </p:nvSpPr>
        <p:spPr>
          <a:xfrm>
            <a:off x="6739128" y="6583680"/>
            <a:ext cx="5029200" cy="2560320"/>
          </a:xfrm>
          <a:prstGeom prst="rect">
            <a:avLst/>
          </a:prstGeom>
          <a:noFill/>
        </p:spPr>
        <p:txBody>
          <a:bodyPr wrap="square" lIns="0" rIns="0" tIns="0" bIns="0" anchor="t">
            <a:spAutoFit/>
          </a:bodyPr>
          <a:lstStyle/>
          <a:p>
            <a:pPr algn="l"/>
            <a:r>
              <a:rPr sz="2100">
                <a:solidFill>
                  <a:srgbClr val="FFFFFF"/>
                </a:solidFill>
                <a:latin typeface="DM Sans"/>
              </a:rPr>
              <a:t>La app abre la cámara, lee el QR y lo manda a la API con su token.</a:t>
            </a:r>
          </a:p>
        </p:txBody>
      </p:sp>
      <p:sp>
        <p:nvSpPr>
          <p:cNvPr id="12" name="Oval 11"/>
          <p:cNvSpPr/>
          <p:nvPr/>
        </p:nvSpPr>
        <p:spPr>
          <a:xfrm>
            <a:off x="12454128" y="4297680"/>
            <a:ext cx="1097280" cy="10972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a:solidFill>
                  <a:srgbClr val="FFFFFF"/>
                </a:solidFill>
                <a:latin typeface="Calistoga"/>
              </a:rPr>
              <a:t>03</a:t>
            </a:r>
          </a:p>
        </p:txBody>
      </p:sp>
      <p:sp>
        <p:nvSpPr>
          <p:cNvPr id="13" name="TextBox 12"/>
          <p:cNvSpPr txBox="1"/>
          <p:nvPr/>
        </p:nvSpPr>
        <p:spPr>
          <a:xfrm>
            <a:off x="12454128" y="5806440"/>
            <a:ext cx="5029200" cy="1188720"/>
          </a:xfrm>
          <a:prstGeom prst="rect">
            <a:avLst/>
          </a:prstGeom>
          <a:noFill/>
        </p:spPr>
        <p:txBody>
          <a:bodyPr wrap="square" lIns="0" rIns="0" tIns="0" bIns="0" anchor="t">
            <a:spAutoFit/>
          </a:bodyPr>
          <a:lstStyle/>
          <a:p>
            <a:pPr algn="l"/>
            <a:r>
              <a:rPr sz="2600" b="1">
                <a:solidFill>
                  <a:srgbClr val="FFFFFF"/>
                </a:solidFill>
                <a:latin typeface="DM Sans Bold"/>
              </a:rPr>
              <a:t>La API lo comprueba</a:t>
            </a:r>
          </a:p>
        </p:txBody>
      </p:sp>
      <p:sp>
        <p:nvSpPr>
          <p:cNvPr id="14" name="TextBox 13"/>
          <p:cNvSpPr txBox="1"/>
          <p:nvPr/>
        </p:nvSpPr>
        <p:spPr>
          <a:xfrm>
            <a:off x="12454128" y="6583680"/>
            <a:ext cx="5029200" cy="2560320"/>
          </a:xfrm>
          <a:prstGeom prst="rect">
            <a:avLst/>
          </a:prstGeom>
          <a:noFill/>
        </p:spPr>
        <p:txBody>
          <a:bodyPr wrap="square" lIns="0" rIns="0" tIns="0" bIns="0" anchor="t">
            <a:spAutoFit/>
          </a:bodyPr>
          <a:lstStyle/>
          <a:p>
            <a:pPr algn="l"/>
            <a:r>
              <a:rPr sz="2100">
                <a:solidFill>
                  <a:srgbClr val="FFFFFF"/>
                </a:solidFill>
                <a:latin typeface="DM Sans"/>
              </a:rPr>
              <a:t>Recalcula el código, acepta hasta 2 minutos de diferencia y registra el ingreso una sola vez.</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nel"/>
          <p:cNvSpPr/>
          <p:nvPr/>
        </p:nvSpPr>
        <p:spPr>
          <a:xfrm>
            <a:off x="5806440" y="0"/>
            <a:ext cx="12481560" cy="10287000"/>
          </a:xfrm>
          <a:prstGeom prst="rect">
            <a:avLst/>
          </a:prstGeom>
          <a:solidFill>
            <a:srgbClr val="FFC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Ilustración tienda" descr="image14.png"/>
          <p:cNvPicPr>
            <a:picLocks noChangeAspect="1"/>
          </p:cNvPicPr>
          <p:nvPr/>
        </p:nvPicPr>
        <p:blipFill>
          <a:blip r:embed="rId2"/>
          <a:stretch>
            <a:fillRect/>
          </a:stretch>
        </p:blipFill>
        <p:spPr>
          <a:xfrm>
            <a:off x="274320" y="3566160"/>
            <a:ext cx="5303520" cy="2983230"/>
          </a:xfrm>
          <a:prstGeom prst="rect">
            <a:avLst/>
          </a:prstGeom>
        </p:spPr>
      </p:pic>
      <p:sp>
        <p:nvSpPr>
          <p:cNvPr id="4" name="TextBox 3"/>
          <p:cNvSpPr txBox="1"/>
          <p:nvPr/>
        </p:nvSpPr>
        <p:spPr>
          <a:xfrm>
            <a:off x="1024128" y="914400"/>
            <a:ext cx="4572000" cy="548640"/>
          </a:xfrm>
          <a:prstGeom prst="rect">
            <a:avLst/>
          </a:prstGeom>
          <a:noFill/>
        </p:spPr>
        <p:txBody>
          <a:bodyPr wrap="square" lIns="0" rIns="0" tIns="0" bIns="0" anchor="t">
            <a:spAutoFit/>
          </a:bodyPr>
          <a:lstStyle/>
          <a:p>
            <a:pPr algn="l"/>
            <a:r>
              <a:rPr sz="2800">
                <a:solidFill>
                  <a:srgbClr val="F36C4A"/>
                </a:solidFill>
                <a:latin typeface="Calistoga"/>
              </a:rPr>
              <a:t>NutriStore</a:t>
            </a:r>
          </a:p>
        </p:txBody>
      </p:sp>
      <p:sp>
        <p:nvSpPr>
          <p:cNvPr id="5" name="TextBox 4"/>
          <p:cNvSpPr txBox="1"/>
          <p:nvPr/>
        </p:nvSpPr>
        <p:spPr>
          <a:xfrm>
            <a:off x="7132320" y="914400"/>
            <a:ext cx="10241280" cy="1188720"/>
          </a:xfrm>
          <a:prstGeom prst="rect">
            <a:avLst/>
          </a:prstGeom>
          <a:noFill/>
        </p:spPr>
        <p:txBody>
          <a:bodyPr wrap="square" lIns="0" rIns="0" tIns="0" bIns="0" anchor="t">
            <a:spAutoFit/>
          </a:bodyPr>
          <a:lstStyle/>
          <a:p>
            <a:pPr algn="l"/>
            <a:r>
              <a:rPr sz="6000">
                <a:solidFill>
                  <a:srgbClr val="1A1A1A"/>
                </a:solidFill>
                <a:latin typeface="Calistoga"/>
              </a:rPr>
              <a:t>Un dato, un solo lugar</a:t>
            </a:r>
          </a:p>
        </p:txBody>
      </p:sp>
      <p:sp>
        <p:nvSpPr>
          <p:cNvPr id="6" name="TextBox 5"/>
          <p:cNvSpPr txBox="1"/>
          <p:nvPr/>
        </p:nvSpPr>
        <p:spPr>
          <a:xfrm>
            <a:off x="7132320" y="2377440"/>
            <a:ext cx="10241280" cy="1188720"/>
          </a:xfrm>
          <a:prstGeom prst="rect">
            <a:avLst/>
          </a:prstGeom>
          <a:noFill/>
        </p:spPr>
        <p:txBody>
          <a:bodyPr wrap="square" lIns="0" rIns="0" tIns="0" bIns="0" anchor="t">
            <a:spAutoFit/>
          </a:bodyPr>
          <a:lstStyle/>
          <a:p>
            <a:pPr algn="l"/>
            <a:r>
              <a:rPr sz="2500" b="1">
                <a:solidFill>
                  <a:srgbClr val="1A1A1A"/>
                </a:solidFill>
                <a:latin typeface="DM Sans Bold"/>
              </a:rPr>
              <a:t>Lo que el dueño cambia en el sistema se ve en la app al instante, porque los dos leen la misma tabla.</a:t>
            </a:r>
          </a:p>
        </p:txBody>
      </p:sp>
      <p:sp>
        <p:nvSpPr>
          <p:cNvPr id="7" name="Viñeta 1"/>
          <p:cNvSpPr/>
          <p:nvPr/>
        </p:nvSpPr>
        <p:spPr>
          <a:xfrm>
            <a:off x="7132320" y="4133088"/>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4023360"/>
            <a:ext cx="9692640" cy="548640"/>
          </a:xfrm>
          <a:prstGeom prst="rect">
            <a:avLst/>
          </a:prstGeom>
          <a:noFill/>
        </p:spPr>
        <p:txBody>
          <a:bodyPr wrap="square" lIns="0" rIns="0" tIns="0" bIns="0" anchor="t">
            <a:spAutoFit/>
          </a:bodyPr>
          <a:lstStyle/>
          <a:p>
            <a:pPr algn="l"/>
            <a:r>
              <a:rPr sz="2500" b="1">
                <a:solidFill>
                  <a:srgbClr val="1A1A1A"/>
                </a:solidFill>
                <a:latin typeface="DM Sans Bold"/>
              </a:rPr>
              <a:t>Tienda</a:t>
            </a:r>
          </a:p>
        </p:txBody>
      </p:sp>
      <p:sp>
        <p:nvSpPr>
          <p:cNvPr id="9" name="TextBox 8"/>
          <p:cNvSpPr txBox="1"/>
          <p:nvPr/>
        </p:nvSpPr>
        <p:spPr>
          <a:xfrm>
            <a:off x="7726679" y="4617720"/>
            <a:ext cx="9692640" cy="1280160"/>
          </a:xfrm>
          <a:prstGeom prst="rect">
            <a:avLst/>
          </a:prstGeom>
          <a:noFill/>
        </p:spPr>
        <p:txBody>
          <a:bodyPr wrap="square" lIns="0" rIns="0" tIns="0" bIns="0" anchor="t">
            <a:spAutoFit/>
          </a:bodyPr>
          <a:lstStyle/>
          <a:p>
            <a:pPr algn="l"/>
            <a:r>
              <a:rPr sz="2100">
                <a:solidFill>
                  <a:srgbClr val="1A1A1A"/>
                </a:solidFill>
                <a:latin typeface="DM Sans"/>
              </a:rPr>
              <a:t>El dueño carga productos con etiquetas, SKU, stock e imagen. El socio pide en la app y paga en recepción.</a:t>
            </a:r>
          </a:p>
        </p:txBody>
      </p:sp>
      <p:sp>
        <p:nvSpPr>
          <p:cNvPr id="10" name="Viñeta 2"/>
          <p:cNvSpPr/>
          <p:nvPr/>
        </p:nvSpPr>
        <p:spPr>
          <a:xfrm>
            <a:off x="7132320" y="6099048"/>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5989320"/>
            <a:ext cx="9692640" cy="548640"/>
          </a:xfrm>
          <a:prstGeom prst="rect">
            <a:avLst/>
          </a:prstGeom>
          <a:noFill/>
        </p:spPr>
        <p:txBody>
          <a:bodyPr wrap="square" lIns="0" rIns="0" tIns="0" bIns="0" anchor="t">
            <a:spAutoFit/>
          </a:bodyPr>
          <a:lstStyle/>
          <a:p>
            <a:pPr algn="l"/>
            <a:r>
              <a:rPr sz="2500" b="1">
                <a:solidFill>
                  <a:srgbClr val="1A1A1A"/>
                </a:solidFill>
                <a:latin typeface="DM Sans Bold"/>
              </a:rPr>
              <a:t>Precios de membresías</a:t>
            </a:r>
          </a:p>
        </p:txBody>
      </p:sp>
      <p:sp>
        <p:nvSpPr>
          <p:cNvPr id="12" name="TextBox 11"/>
          <p:cNvSpPr txBox="1"/>
          <p:nvPr/>
        </p:nvSpPr>
        <p:spPr>
          <a:xfrm>
            <a:off x="7726679" y="6583680"/>
            <a:ext cx="9692640" cy="1280160"/>
          </a:xfrm>
          <a:prstGeom prst="rect">
            <a:avLst/>
          </a:prstGeom>
          <a:noFill/>
        </p:spPr>
        <p:txBody>
          <a:bodyPr wrap="square" lIns="0" rIns="0" tIns="0" bIns="0" anchor="t">
            <a:spAutoFit/>
          </a:bodyPr>
          <a:lstStyle/>
          <a:p>
            <a:pPr algn="l"/>
            <a:r>
              <a:rPr sz="2100">
                <a:solidFill>
                  <a:srgbClr val="1A1A1A"/>
                </a:solidFill>
                <a:latin typeface="DM Sans"/>
              </a:rPr>
              <a:t>Se editan en el sistema y la app los lee de la API (GET /v1/planes). No hay precios escritos en la app.</a:t>
            </a:r>
          </a:p>
        </p:txBody>
      </p:sp>
      <p:sp>
        <p:nvSpPr>
          <p:cNvPr id="13" name="Viñeta 3"/>
          <p:cNvSpPr/>
          <p:nvPr/>
        </p:nvSpPr>
        <p:spPr>
          <a:xfrm>
            <a:off x="7132320" y="8065007"/>
            <a:ext cx="329184" cy="329184"/>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7955279"/>
            <a:ext cx="9692640" cy="548640"/>
          </a:xfrm>
          <a:prstGeom prst="rect">
            <a:avLst/>
          </a:prstGeom>
          <a:noFill/>
        </p:spPr>
        <p:txBody>
          <a:bodyPr wrap="square" lIns="0" rIns="0" tIns="0" bIns="0" anchor="t">
            <a:spAutoFit/>
          </a:bodyPr>
          <a:lstStyle/>
          <a:p>
            <a:pPr algn="l"/>
            <a:r>
              <a:rPr sz="2500" b="1">
                <a:solidFill>
                  <a:srgbClr val="1A1A1A"/>
                </a:solidFill>
                <a:latin typeface="DM Sans Bold"/>
              </a:rPr>
              <a:t>Pagos</a:t>
            </a:r>
          </a:p>
        </p:txBody>
      </p:sp>
      <p:sp>
        <p:nvSpPr>
          <p:cNvPr id="15" name="TextBox 14"/>
          <p:cNvSpPr txBox="1"/>
          <p:nvPr/>
        </p:nvSpPr>
        <p:spPr>
          <a:xfrm>
            <a:off x="7726679" y="8549640"/>
            <a:ext cx="9692640" cy="1280160"/>
          </a:xfrm>
          <a:prstGeom prst="rect">
            <a:avLst/>
          </a:prstGeom>
          <a:noFill/>
        </p:spPr>
        <p:txBody>
          <a:bodyPr wrap="square" lIns="0" rIns="0" tIns="0" bIns="0" anchor="t">
            <a:spAutoFit/>
          </a:bodyPr>
          <a:lstStyle/>
          <a:p>
            <a:pPr algn="l"/>
            <a:r>
              <a:rPr sz="2100">
                <a:solidFill>
                  <a:srgbClr val="1A1A1A"/>
                </a:solidFill>
                <a:latin typeface="DM Sans"/>
              </a:rPr>
              <a:t>El cobro usa el precio de la tabla membresias, no el que mande el celular.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1024128" y="822960"/>
            <a:ext cx="16002000" cy="1188720"/>
          </a:xfrm>
          <a:prstGeom prst="rect">
            <a:avLst/>
          </a:prstGeom>
          <a:noFill/>
        </p:spPr>
        <p:txBody>
          <a:bodyPr wrap="square" lIns="0" rIns="0" tIns="0" bIns="0" anchor="t">
            <a:spAutoFit/>
          </a:bodyPr>
          <a:lstStyle/>
          <a:p>
            <a:pPr algn="l"/>
            <a:r>
              <a:rPr sz="5600">
                <a:solidFill>
                  <a:srgbClr val="215DF2"/>
                </a:solidFill>
                <a:latin typeface="Calistoga"/>
              </a:rPr>
              <a:t>Cómo lo probamos</a:t>
            </a:r>
          </a:p>
        </p:txBody>
      </p:sp>
      <p:pic>
        <p:nvPicPr>
          <p:cNvPr id="3" name="Animación codig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8640" y="2377440"/>
            <a:ext cx="8595360" cy="4834890"/>
          </a:xfrm>
          <a:prstGeom prst="rect">
            <a:avLst/>
          </a:prstGeom>
        </p:spPr>
      </p:pic>
      <p:sp>
        <p:nvSpPr>
          <p:cNvPr id="4" name="Oval 3"/>
          <p:cNvSpPr/>
          <p:nvPr/>
        </p:nvSpPr>
        <p:spPr>
          <a:xfrm>
            <a:off x="9692640" y="2103120"/>
            <a:ext cx="868680" cy="8686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stoga"/>
              </a:rPr>
              <a:t>01</a:t>
            </a:r>
          </a:p>
        </p:txBody>
      </p:sp>
      <p:sp>
        <p:nvSpPr>
          <p:cNvPr id="5" name="TextBox 4"/>
          <p:cNvSpPr txBox="1"/>
          <p:nvPr/>
        </p:nvSpPr>
        <p:spPr>
          <a:xfrm>
            <a:off x="10881360" y="2103120"/>
            <a:ext cx="6766560" cy="548640"/>
          </a:xfrm>
          <a:prstGeom prst="rect">
            <a:avLst/>
          </a:prstGeom>
          <a:noFill/>
        </p:spPr>
        <p:txBody>
          <a:bodyPr wrap="square" lIns="0" rIns="0" tIns="0" bIns="0" anchor="t">
            <a:spAutoFit/>
          </a:bodyPr>
          <a:lstStyle/>
          <a:p>
            <a:pPr algn="l"/>
            <a:r>
              <a:rPr sz="2400" b="1">
                <a:solidFill>
                  <a:srgbClr val="1A1A1A"/>
                </a:solidFill>
                <a:latin typeface="DM Sans Bold"/>
              </a:rPr>
              <a:t>Pruebas automáticas de la API</a:t>
            </a:r>
          </a:p>
        </p:txBody>
      </p:sp>
      <p:sp>
        <p:nvSpPr>
          <p:cNvPr id="6" name="TextBox 5"/>
          <p:cNvSpPr txBox="1"/>
          <p:nvPr/>
        </p:nvSpPr>
        <p:spPr>
          <a:xfrm>
            <a:off x="10881360" y="2697479"/>
            <a:ext cx="6766560" cy="1280160"/>
          </a:xfrm>
          <a:prstGeom prst="rect">
            <a:avLst/>
          </a:prstGeom>
          <a:noFill/>
        </p:spPr>
        <p:txBody>
          <a:bodyPr wrap="square" lIns="0" rIns="0" tIns="0" bIns="0" anchor="t">
            <a:spAutoFit/>
          </a:bodyPr>
          <a:lstStyle/>
          <a:p>
            <a:pPr algn="l"/>
            <a:r>
              <a:rPr sz="2000">
                <a:solidFill>
                  <a:srgbClr val="1A1A1A"/>
                </a:solidFill>
                <a:latin typeface="DM Sans"/>
              </a:rPr>
              <a:t>Un script prueba cada ruta contra una base local: casos válidos y casos que deben fallar.</a:t>
            </a:r>
          </a:p>
        </p:txBody>
      </p:sp>
      <p:sp>
        <p:nvSpPr>
          <p:cNvPr id="7" name="Oval 6"/>
          <p:cNvSpPr/>
          <p:nvPr/>
        </p:nvSpPr>
        <p:spPr>
          <a:xfrm>
            <a:off x="9692640" y="4069079"/>
            <a:ext cx="868680" cy="8686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stoga"/>
              </a:rPr>
              <a:t>02</a:t>
            </a:r>
          </a:p>
        </p:txBody>
      </p:sp>
      <p:sp>
        <p:nvSpPr>
          <p:cNvPr id="8" name="TextBox 7"/>
          <p:cNvSpPr txBox="1"/>
          <p:nvPr/>
        </p:nvSpPr>
        <p:spPr>
          <a:xfrm>
            <a:off x="10881360" y="4069079"/>
            <a:ext cx="6766560" cy="548640"/>
          </a:xfrm>
          <a:prstGeom prst="rect">
            <a:avLst/>
          </a:prstGeom>
          <a:noFill/>
        </p:spPr>
        <p:txBody>
          <a:bodyPr wrap="square" lIns="0" rIns="0" tIns="0" bIns="0" anchor="t">
            <a:spAutoFit/>
          </a:bodyPr>
          <a:lstStyle/>
          <a:p>
            <a:pPr algn="l"/>
            <a:r>
              <a:rPr sz="2400" b="1">
                <a:solidFill>
                  <a:srgbClr val="1A1A1A"/>
                </a:solidFill>
                <a:latin typeface="DM Sans Bold"/>
              </a:rPr>
              <a:t>Pruebas reales con datos temporales</a:t>
            </a:r>
          </a:p>
        </p:txBody>
      </p:sp>
      <p:sp>
        <p:nvSpPr>
          <p:cNvPr id="9" name="TextBox 8"/>
          <p:cNvSpPr txBox="1"/>
          <p:nvPr/>
        </p:nvSpPr>
        <p:spPr>
          <a:xfrm>
            <a:off x="10881360" y="4663440"/>
            <a:ext cx="6766560" cy="1280160"/>
          </a:xfrm>
          <a:prstGeom prst="rect">
            <a:avLst/>
          </a:prstGeom>
          <a:noFill/>
        </p:spPr>
        <p:txBody>
          <a:bodyPr wrap="square" lIns="0" rIns="0" tIns="0" bIns="0" anchor="t">
            <a:spAutoFit/>
          </a:bodyPr>
          <a:lstStyle/>
          <a:p>
            <a:pPr algn="l"/>
            <a:r>
              <a:rPr sz="2000">
                <a:solidFill>
                  <a:srgbClr val="1A1A1A"/>
                </a:solidFill>
                <a:latin typeface="DM Sans"/>
              </a:rPr>
              <a:t>Creamos un socio de prueba, probamos el QR, la tienda y los pagos, y después lo borramos.</a:t>
            </a:r>
          </a:p>
        </p:txBody>
      </p:sp>
      <p:sp>
        <p:nvSpPr>
          <p:cNvPr id="10" name="Oval 9"/>
          <p:cNvSpPr/>
          <p:nvPr/>
        </p:nvSpPr>
        <p:spPr>
          <a:xfrm>
            <a:off x="9692640" y="6035040"/>
            <a:ext cx="868680" cy="8686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stoga"/>
              </a:rPr>
              <a:t>03</a:t>
            </a:r>
          </a:p>
        </p:txBody>
      </p:sp>
      <p:sp>
        <p:nvSpPr>
          <p:cNvPr id="11" name="TextBox 10"/>
          <p:cNvSpPr txBox="1"/>
          <p:nvPr/>
        </p:nvSpPr>
        <p:spPr>
          <a:xfrm>
            <a:off x="10881360" y="6035040"/>
            <a:ext cx="6766560" cy="548640"/>
          </a:xfrm>
          <a:prstGeom prst="rect">
            <a:avLst/>
          </a:prstGeom>
          <a:noFill/>
        </p:spPr>
        <p:txBody>
          <a:bodyPr wrap="square" lIns="0" rIns="0" tIns="0" bIns="0" anchor="t">
            <a:spAutoFit/>
          </a:bodyPr>
          <a:lstStyle/>
          <a:p>
            <a:pPr algn="l"/>
            <a:r>
              <a:rPr sz="2400" b="1">
                <a:solidFill>
                  <a:srgbClr val="1A1A1A"/>
                </a:solidFill>
                <a:latin typeface="DM Sans Bold"/>
              </a:rPr>
              <a:t>Validación en tres capas</a:t>
            </a:r>
          </a:p>
        </p:txBody>
      </p:sp>
      <p:sp>
        <p:nvSpPr>
          <p:cNvPr id="12" name="TextBox 11"/>
          <p:cNvSpPr txBox="1"/>
          <p:nvPr/>
        </p:nvSpPr>
        <p:spPr>
          <a:xfrm>
            <a:off x="10881360" y="6629400"/>
            <a:ext cx="6766560" cy="1280160"/>
          </a:xfrm>
          <a:prstGeom prst="rect">
            <a:avLst/>
          </a:prstGeom>
          <a:noFill/>
        </p:spPr>
        <p:txBody>
          <a:bodyPr wrap="square" lIns="0" rIns="0" tIns="0" bIns="0" anchor="t">
            <a:spAutoFit/>
          </a:bodyPr>
          <a:lstStyle/>
          <a:p>
            <a:pPr algn="l"/>
            <a:r>
              <a:rPr sz="2000">
                <a:solidFill>
                  <a:srgbClr val="1A1A1A"/>
                </a:solidFill>
                <a:latin typeface="DM Sans"/>
              </a:rPr>
              <a:t>La app o el sistema avisan, la API controla y la base rechaza lo que se escape.</a:t>
            </a:r>
          </a:p>
        </p:txBody>
      </p:sp>
      <p:sp>
        <p:nvSpPr>
          <p:cNvPr id="13" name="Oval 12"/>
          <p:cNvSpPr/>
          <p:nvPr/>
        </p:nvSpPr>
        <p:spPr>
          <a:xfrm>
            <a:off x="9692640" y="8001000"/>
            <a:ext cx="868680" cy="8686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a:solidFill>
                  <a:srgbClr val="FFFFFF"/>
                </a:solidFill>
                <a:latin typeface="Calistoga"/>
              </a:rPr>
              <a:t>04</a:t>
            </a:r>
          </a:p>
        </p:txBody>
      </p:sp>
      <p:sp>
        <p:nvSpPr>
          <p:cNvPr id="14" name="TextBox 13"/>
          <p:cNvSpPr txBox="1"/>
          <p:nvPr/>
        </p:nvSpPr>
        <p:spPr>
          <a:xfrm>
            <a:off x="10881360" y="8001000"/>
            <a:ext cx="6766560" cy="548640"/>
          </a:xfrm>
          <a:prstGeom prst="rect">
            <a:avLst/>
          </a:prstGeom>
          <a:noFill/>
        </p:spPr>
        <p:txBody>
          <a:bodyPr wrap="square" lIns="0" rIns="0" tIns="0" bIns="0" anchor="t">
            <a:spAutoFit/>
          </a:bodyPr>
          <a:lstStyle/>
          <a:p>
            <a:pPr algn="l"/>
            <a:r>
              <a:rPr sz="2400" b="1">
                <a:solidFill>
                  <a:srgbClr val="1A1A1A"/>
                </a:solidFill>
                <a:latin typeface="DM Sans Bold"/>
              </a:rPr>
              <a:t>Emulador de Android</a:t>
            </a:r>
          </a:p>
        </p:txBody>
      </p:sp>
      <p:sp>
        <p:nvSpPr>
          <p:cNvPr id="15" name="TextBox 14"/>
          <p:cNvSpPr txBox="1"/>
          <p:nvPr/>
        </p:nvSpPr>
        <p:spPr>
          <a:xfrm>
            <a:off x="10881360" y="8595360"/>
            <a:ext cx="6766560" cy="1280160"/>
          </a:xfrm>
          <a:prstGeom prst="rect">
            <a:avLst/>
          </a:prstGeom>
          <a:noFill/>
        </p:spPr>
        <p:txBody>
          <a:bodyPr wrap="square" lIns="0" rIns="0" tIns="0" bIns="0" anchor="t">
            <a:spAutoFit/>
          </a:bodyPr>
          <a:lstStyle/>
          <a:p>
            <a:pPr algn="l"/>
            <a:r>
              <a:rPr sz="2000">
                <a:solidFill>
                  <a:srgbClr val="1A1A1A"/>
                </a:solidFill>
                <a:latin typeface="DM Sans"/>
              </a:rPr>
              <a:t>Cada versión de la app se instala y se revisa antes de publicar el APK.</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ogo"/>
          <p:cNvSpPr/>
          <p:nvPr/>
        </p:nvSpPr>
        <p:spPr>
          <a:xfrm>
            <a:off x="1024128" y="822960"/>
            <a:ext cx="868680" cy="868680"/>
          </a:xfrm>
          <a:prstGeom prst="ellipse">
            <a:avLst/>
          </a:prstGeom>
          <a:solidFill>
            <a:srgbClr val="F36C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a:solidFill>
                  <a:srgbClr val="FFFFFF"/>
                </a:solidFill>
                <a:latin typeface="Calistoga"/>
              </a:rPr>
              <a:t>O</a:t>
            </a:r>
          </a:p>
        </p:txBody>
      </p:sp>
      <p:sp>
        <p:nvSpPr>
          <p:cNvPr id="3" name="Marca"/>
          <p:cNvSpPr txBox="1"/>
          <p:nvPr/>
        </p:nvSpPr>
        <p:spPr>
          <a:xfrm>
            <a:off x="2148840" y="987552"/>
            <a:ext cx="5486400" cy="548640"/>
          </a:xfrm>
          <a:prstGeom prst="rect">
            <a:avLst/>
          </a:prstGeom>
          <a:noFill/>
        </p:spPr>
        <p:txBody>
          <a:bodyPr wrap="square" lIns="0" rIns="0" tIns="0" bIns="0" anchor="t">
            <a:spAutoFit/>
          </a:bodyPr>
          <a:lstStyle/>
          <a:p>
            <a:pPr algn="l"/>
            <a:r>
              <a:rPr sz="2600">
                <a:solidFill>
                  <a:srgbClr val="1A1A1A"/>
                </a:solidFill>
                <a:latin typeface="Calistoga"/>
              </a:rPr>
              <a:t>OLIMPOS GYM</a:t>
            </a:r>
          </a:p>
        </p:txBody>
      </p:sp>
      <p:sp>
        <p:nvSpPr>
          <p:cNvPr id="4" name="TextBox 3"/>
          <p:cNvSpPr txBox="1"/>
          <p:nvPr/>
        </p:nvSpPr>
        <p:spPr>
          <a:xfrm>
            <a:off x="1399032" y="3291840"/>
            <a:ext cx="8686800" cy="2011680"/>
          </a:xfrm>
          <a:prstGeom prst="rect">
            <a:avLst/>
          </a:prstGeom>
          <a:noFill/>
        </p:spPr>
        <p:txBody>
          <a:bodyPr wrap="square" lIns="0" rIns="0" tIns="0" bIns="0" anchor="t">
            <a:spAutoFit/>
          </a:bodyPr>
          <a:lstStyle/>
          <a:p>
            <a:pPr algn="l"/>
            <a:r>
              <a:rPr sz="9500">
                <a:solidFill>
                  <a:srgbClr val="215DF2"/>
                </a:solidFill>
                <a:latin typeface="Calistoga"/>
              </a:rPr>
              <a:t>¿Preguntas?</a:t>
            </a:r>
          </a:p>
        </p:txBody>
      </p:sp>
      <p:sp>
        <p:nvSpPr>
          <p:cNvPr id="5" name="TextBox 4"/>
          <p:cNvSpPr txBox="1"/>
          <p:nvPr/>
        </p:nvSpPr>
        <p:spPr>
          <a:xfrm>
            <a:off x="1399032" y="5394960"/>
            <a:ext cx="8046720" cy="2286000"/>
          </a:xfrm>
          <a:prstGeom prst="rect">
            <a:avLst/>
          </a:prstGeom>
          <a:noFill/>
        </p:spPr>
        <p:txBody>
          <a:bodyPr wrap="square" lIns="0" rIns="0" tIns="0" bIns="0" anchor="t">
            <a:spAutoFit/>
          </a:bodyPr>
          <a:lstStyle/>
          <a:p>
            <a:pPr algn="l"/>
            <a:r>
              <a:rPr sz="2700" b="1">
                <a:solidFill>
                  <a:srgbClr val="1A1A1A"/>
                </a:solidFill>
                <a:latin typeface="DM Sans Bold"/>
              </a:rPr>
              <a:t>Una base relacional que cuida los datos, una API que no confía en nadie y tres aplicaciones que muestran siempre lo mismo.</a:t>
            </a:r>
          </a:p>
        </p:txBody>
      </p:sp>
      <p:pic>
        <p:nvPicPr>
          <p:cNvPr id="6" name="Animación trof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509760" y="2834640"/>
            <a:ext cx="8229600" cy="462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3" presetID="1" presetClass="mediacall" presetSubtype="0" fill="hold" nodeType="afterEffect">
                                  <p:stCondLst>
                                    <p:cond delay="0"/>
                                  </p:stCondLst>
                                  <p:childTnLst>
                                    <p:cmd type="call" cmd="playFrom(0.0)">
                                      <p:cBhvr>
                                        <p:cTn id="4" dur="6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6"/>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DAHY24K9HaA</dc:identifier>
  <dcterms:modified xsi:type="dcterms:W3CDTF">2011-08-01T06:04:30Z</dcterms:modified>
  <cp:revision>1</cp:revision>
  <dc:title>Azul Ilustración Animada Taller de Habilidades de Presentación Seminario Web Presentación Principal</dc:title>
</cp:coreProperties>
</file>